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built an interactive scrollytelling piece asking two linked questions: how unequal is opportunity inside the U.S., and how does the U.S. compare against its wealthy peers? The argument is a local-to-global pivot. The 3D map on the right shows the full topography of opportunity — red peaks are counties where children of poor parents reach the highest adult incomes.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Local-to-global structure lets the audience internalize within-country spread before weighing the U.S. against peers. School funding (Step 3) is the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loaded statically — no backend. Bridge: GDIM × SWIID inner-join on country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Deploy is fully automated via GitHub Actions on every push to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Play button change first — it's the most visible UX change from FP3. The morph animation is the engineering centrepiece. The 3D was intentionally held back to ensure it didn't undermine the accessible 2D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opening uses a Play button instead of scroll trigger because scroll triggers were producing layout reflow races on fast scrolls.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reddest, most-distant points get named on the chart so the prose has a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animation reveals counties from the largest changes inward.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pivot slide from the American problem to the global perspective.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canonical Great Gatsby curve. The U.S. sits in the worst quadrant on both axes.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starting market inequality can land at very different places.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morph makes visible that the SAME 20 countries are now ranked. Continuity is the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Kept as bonus rather than opener — color encoding is more accessible for the headline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of these decisions came from things that broke. The button trigger replaced a scroll trigger that raced. The curated league replaced an 'all countries' view that buried the U.S. in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6's morph is the visual climax — the same 20 countries from Step 4's scatter literally flow into a sorted ranking. Step 7's 3D adds a magnitude dimension.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we had another week we'd add keyboard navigation to the 3D scene. The hardest engineering problem was keeping the 20-country roster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floor. Common questions: why 1992 specifically (earliest robust Opp Atlas cohort), why IGE not rank correlation (GDIM uses IGE, kept their measure), why 3D is bonus not opener.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0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ep7_3d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670" y="0"/>
            <a:ext cx="515302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1470" y="0"/>
            <a:ext cx="1097280" cy="6858000"/>
          </a:xfrm>
          <a:prstGeom prst="rect">
            <a:avLst/>
          </a:prstGeom>
          <a:solidFill>
            <a:srgbClr val="2A201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80">
                <a:solidFill>
                  <a:srgbClr val="D67A5C"/>
                </a:solidFill>
                <a:latin typeface="Arial"/>
              </a:rPr>
              <a:t>CSCI 5609 · Final Project ·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59436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200" b="1" i="0">
                <a:solidFill>
                  <a:srgbClr val="F4EFE6"/>
                </a:solidFill>
                <a:latin typeface="Georgia"/>
              </a:rPr>
              <a:t>The Geography of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6908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 i="1">
                <a:solidFill>
                  <a:srgbClr val="D9D0C2"/>
                </a:solidFill>
                <a:latin typeface="Georgia"/>
              </a:rPr>
              <a:t>How birthplace shapes the chance of climbing — and how the U.S. compares globally.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D9D0C2"/>
                </a:solidFill>
                <a:latin typeface="Arial"/>
              </a:rPr>
              <a:t>Brandon Borzello  ·  Harris Li  ·  Qi Wu  ·  Yiqi Huang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D67A5C"/>
                </a:solidFill>
                <a:latin typeface="Courier New"/>
              </a:rPr>
              <a:t>https://57777-bit.github.io/5609finalProject/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80">
                <a:solidFill>
                  <a:srgbClr val="B5533C"/>
                </a:solidFill>
                <a:latin typeface="Arial"/>
              </a:rPr>
              <a:t>Our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1">
                <a:solidFill>
                  <a:srgbClr val="1F1B16"/>
                </a:solidFill>
                <a:latin typeface="Georgia"/>
              </a:rPr>
              <a:t>How much does where an American child grows up shape their adult economic outcomes — and how does the U.S. compare against its wealthy peers?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971800"/>
            <a:ext cx="11094415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127248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 spc="80">
                <a:solidFill>
                  <a:srgbClr val="B5533C"/>
                </a:solidFill>
                <a:latin typeface="Arial"/>
              </a:rPr>
              <a:t>Two 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8444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F1B16"/>
                </a:solidFill>
                <a:latin typeface="Arial"/>
              </a:rPr>
              <a:t>Part I — The American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0507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1F1B16"/>
                </a:solidFill>
                <a:latin typeface="Arial"/>
              </a:rPr>
              <a:t>Within the U.S., mobility is sharply </a:t>
            </a:r>
            <a:r>
              <a:rPr sz="1600" b="1" i="0">
                <a:solidFill>
                  <a:srgbClr val="B5533C"/>
                </a:solidFill>
                <a:latin typeface="Arial"/>
              </a:rPr>
              <a:t>geographic</a:t>
            </a:r>
            <a:r>
              <a:rPr sz="1600" b="0" i="0">
                <a:solidFill>
                  <a:srgbClr val="1F1B16"/>
                </a:solidFill>
                <a:latin typeface="Arial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663440"/>
            <a:ext cx="5120640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8006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F1B16"/>
                </a:solidFill>
                <a:latin typeface="Arial"/>
              </a:rPr>
              <a:t>Part II — The Global Perspective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21224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1F1B16"/>
                </a:solidFill>
                <a:latin typeface="Arial"/>
              </a:rPr>
              <a:t>The U.S. as a whole sits </a:t>
            </a:r>
            <a:r>
              <a:rPr sz="1600" b="1" i="0">
                <a:solidFill>
                  <a:srgbClr val="B5533C"/>
                </a:solidFill>
                <a:latin typeface="Arial"/>
              </a:rPr>
              <a:t>below</a:t>
            </a:r>
            <a:r>
              <a:rPr sz="1600" b="0" i="0">
                <a:solidFill>
                  <a:srgbClr val="1F1B16"/>
                </a:solidFill>
                <a:latin typeface="Arial"/>
              </a:rPr>
              <a:t> most of its wealthy peers.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6B6259"/>
                </a:solidFill>
                <a:latin typeface="Arial"/>
              </a:rPr>
              <a:t>The Geography of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45775" y="647395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259"/>
                </a:solidFill>
                <a:latin typeface="Arial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80">
                <a:solidFill>
                  <a:srgbClr val="B5533C"/>
                </a:solidFill>
                <a:latin typeface="Arial"/>
              </a:rPr>
              <a:t>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400" b="1" i="0">
                <a:solidFill>
                  <a:srgbClr val="1F1B16"/>
                </a:solidFill>
                <a:latin typeface="Georgia"/>
              </a:rPr>
              <a:t>All Public, All Static — No Backend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1094415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3852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 spc="80">
                <a:solidFill>
                  <a:srgbClr val="B5533C"/>
                </a:solidFill>
                <a:latin typeface="Arial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93852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 spc="80">
                <a:solidFill>
                  <a:srgbClr val="B5533C"/>
                </a:solidFill>
                <a:latin typeface="Arial"/>
              </a:rPr>
              <a:t>Attribution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93852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 spc="80">
                <a:solidFill>
                  <a:srgbClr val="B5533C"/>
                </a:solidFill>
                <a:latin typeface="Arial"/>
              </a:rPr>
              <a:t>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F1B16"/>
                </a:solidFill>
                <a:latin typeface="Georgia"/>
              </a:rPr>
              <a:t>Opportunity Atlas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33172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6B6259"/>
                </a:solidFill>
                <a:latin typeface="Arial"/>
              </a:rPr>
              <a:t>Chetty et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1F1B16"/>
                </a:solidFill>
                <a:latin typeface="Arial"/>
              </a:rPr>
              <a:t>County-level adult outcomes by parent income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F1B16"/>
                </a:solidFill>
                <a:latin typeface="Georgia"/>
              </a:rPr>
              <a:t>GDIM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10896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6B6259"/>
                </a:solidFill>
                <a:latin typeface="Arial"/>
              </a:rPr>
              <a:t>World Bank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108960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1F1B16"/>
                </a:solidFill>
                <a:latin typeface="Arial"/>
              </a:rPr>
              <a:t>Intergenerational immobility (IGE) by country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8620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F1B16"/>
                </a:solidFill>
                <a:latin typeface="Georgia"/>
              </a:rPr>
              <a:t>SWIID v9.6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88620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6B6259"/>
                </a:solidFill>
                <a:latin typeface="Arial"/>
              </a:rPr>
              <a:t>Frederick Solt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886200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1F1B16"/>
                </a:solidFill>
                <a:latin typeface="Arial"/>
              </a:rPr>
              <a:t>Pre-/post-tax inequality (Gini)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F1B16"/>
                </a:solidFill>
                <a:latin typeface="Georgia"/>
              </a:rPr>
              <a:t>OECD Educ. at a Glance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66344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6B6259"/>
                </a:solidFill>
                <a:latin typeface="Arial"/>
              </a:rPr>
              <a:t>OECD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663440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1F1B16"/>
                </a:solidFill>
                <a:latin typeface="Arial"/>
              </a:rPr>
              <a:t>School funding centralization by country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4068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F1B16"/>
                </a:solidFill>
                <a:latin typeface="Georgia"/>
              </a:rPr>
              <a:t>US Census TopoJSON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544068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6B6259"/>
                </a:solidFill>
                <a:latin typeface="Arial"/>
              </a:rPr>
              <a:t>Mike Bostock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440680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1F1B16"/>
                </a:solidFill>
                <a:latin typeface="Arial"/>
              </a:rPr>
              <a:t>County + state boundaries (10M vertices)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6B6259"/>
                </a:solidFill>
                <a:latin typeface="Arial"/>
              </a:rPr>
              <a:t>The Geography of Opportunity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45775" y="647395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259"/>
                </a:solidFill>
                <a:latin typeface="Arial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80">
                <a:solidFill>
                  <a:srgbClr val="B5533C"/>
                </a:solidFill>
                <a:latin typeface="Arial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400" b="1" i="0">
                <a:solidFill>
                  <a:srgbClr val="1F1B16"/>
                </a:solidFill>
                <a:latin typeface="Georgia"/>
              </a:rPr>
              <a:t>Static Site, No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45643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 spc="80">
                <a:solidFill>
                  <a:srgbClr val="1F1B16"/>
                </a:solidFill>
                <a:latin typeface="Arial"/>
              </a:rPr>
              <a:t>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345643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600" b="0" i="0">
                <a:solidFill>
                  <a:srgbClr val="1F1B16"/>
                </a:solidFill>
                <a:latin typeface="Arial"/>
              </a:rPr>
              <a:t>–  SvelteKit</a:t>
            </a:r>
          </a:p>
          <a:p>
            <a:pPr>
              <a:lnSpc>
                <a:spcPct val="150000"/>
              </a:lnSpc>
            </a:pPr>
            <a:r>
              <a:rPr sz="1600" b="0" i="0">
                <a:solidFill>
                  <a:srgbClr val="1F1B16"/>
                </a:solidFill>
                <a:latin typeface="Arial"/>
              </a:rPr>
              <a:t>–  Svelte 5 runes ($state, $bindable, $props, $effect)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70832" y="1828800"/>
            <a:ext cx="345643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 spc="80">
                <a:solidFill>
                  <a:srgbClr val="1F1B16"/>
                </a:solidFill>
                <a:latin typeface="Arial"/>
              </a:rPr>
              <a:t>Visualization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0832" y="2286000"/>
            <a:ext cx="345643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600" b="0" i="0">
                <a:solidFill>
                  <a:srgbClr val="1F1B16"/>
                </a:solidFill>
                <a:latin typeface="Arial"/>
              </a:rPr>
              <a:t>–  D3 v7 (scales, axes, projections)</a:t>
            </a:r>
          </a:p>
          <a:p>
            <a:pPr>
              <a:lnSpc>
                <a:spcPct val="150000"/>
              </a:lnSpc>
            </a:pPr>
            <a:r>
              <a:rPr sz="1600" b="0" i="0">
                <a:solidFill>
                  <a:srgbClr val="1F1B16"/>
                </a:solidFill>
                <a:latin typeface="Arial"/>
              </a:rPr>
              <a:t>–  topojson-client</a:t>
            </a:r>
          </a:p>
          <a:p>
            <a:pPr>
              <a:lnSpc>
                <a:spcPct val="150000"/>
              </a:lnSpc>
            </a:pPr>
            <a:r>
              <a:rPr sz="1600" b="0" i="0">
                <a:solidFill>
                  <a:srgbClr val="1F1B16"/>
                </a:solidFill>
                <a:latin typeface="Arial"/>
              </a:rPr>
              <a:t>–  deck.gl (3D bonus — lazy-loaded)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3024" y="1828800"/>
            <a:ext cx="345643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 spc="80">
                <a:solidFill>
                  <a:srgbClr val="1F1B16"/>
                </a:solidFill>
                <a:latin typeface="Arial"/>
              </a:rPr>
              <a:t>Build &amp; 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3024" y="2286000"/>
            <a:ext cx="345643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600" b="0" i="0">
                <a:solidFill>
                  <a:srgbClr val="1F1B16"/>
                </a:solidFill>
                <a:latin typeface="Arial"/>
              </a:rPr>
              <a:t>–  Vite dev server</a:t>
            </a:r>
          </a:p>
          <a:p>
            <a:pPr>
              <a:lnSpc>
                <a:spcPct val="150000"/>
              </a:lnSpc>
            </a:pPr>
            <a:r>
              <a:rPr sz="1600" b="0" i="0">
                <a:solidFill>
                  <a:srgbClr val="1F1B16"/>
                </a:solidFill>
                <a:latin typeface="Arial"/>
              </a:rPr>
              <a:t>–  GitHub Actions → GitHub Pages (auto-deploy on push)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49240"/>
            <a:ext cx="110944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1">
                <a:solidFill>
                  <a:srgbClr val="6B6259"/>
                </a:solidFill>
                <a:latin typeface="Georgia"/>
              </a:rPr>
              <a:t>Sticky right panel + scrollytelling left panel — the chart stays anchored as the prose advances, so each narrative beat resolves against a visible mark.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6B6259"/>
                </a:solidFill>
                <a:latin typeface="Arial"/>
              </a:rPr>
              <a:t>The Geography of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45775" y="647395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259"/>
                </a:solidFill>
                <a:latin typeface="Arial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80">
                <a:solidFill>
                  <a:srgbClr val="B5533C"/>
                </a:solidFill>
                <a:latin typeface="Arial"/>
              </a:rPr>
              <a:t>Since Last Milestone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400" b="1" i="0">
                <a:solidFill>
                  <a:srgbClr val="1F1B16"/>
                </a:solidFill>
                <a:latin typeface="Georgia"/>
              </a:rPr>
              <a:t>What Changed After FP3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10944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1">
                <a:solidFill>
                  <a:srgbClr val="6B6259"/>
                </a:solidFill>
                <a:latin typeface="Georgia"/>
              </a:rPr>
              <a:t>Three rounds of peer review pushed us toward simpler interaction, tighter narrative continuity, and a 3D bonus that earns its 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822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B5533C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423160"/>
            <a:ext cx="101342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1F1B16"/>
                </a:solidFill>
                <a:latin typeface="Arial"/>
              </a:rPr>
              <a:t>Play button replaces scroll trigger on Step 0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500" b="0" i="0">
                <a:solidFill>
                  <a:srgbClr val="1F1B16"/>
                </a:solidFill>
                <a:latin typeface="Arial"/>
              </a:rPr>
              <a:t>Reviewers reported layout reflow races on fast scrolls — the map would re-mount mid-animation. We swapped the scroll trigger for an explicit Play / Replay button. Determinism over cleverness.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21608"/>
            <a:ext cx="822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B5533C"/>
                </a:solidFill>
                <a:latin typeface="Georg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721608"/>
            <a:ext cx="101342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1F1B16"/>
                </a:solidFill>
                <a:latin typeface="Arial"/>
              </a:rPr>
              <a:t>Morph animation between Step 4 and Step 6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500" b="0" i="0">
                <a:solidFill>
                  <a:srgbClr val="1F1B16"/>
                </a:solidFill>
                <a:latin typeface="Arial"/>
              </a:rPr>
              <a:t>The Gatsby Curve and the Mobility League ranking now share a transition: scatter dots morph into sorted bars (~1.2s, rect-with-rx interpolation). Same 20 countries, two views, one continuous argument.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0056"/>
            <a:ext cx="822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B5533C"/>
                </a:solidFill>
                <a:latin typeface="Georgia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5020056"/>
            <a:ext cx="101342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1F1B16"/>
                </a:solidFill>
                <a:latin typeface="Arial"/>
              </a:rPr>
              <a:t>3D bonus added at Step 7 (deck.gl)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500" b="0" i="0">
                <a:solidFill>
                  <a:srgbClr val="1F1B16"/>
                </a:solidFill>
                <a:latin typeface="Arial"/>
              </a:rPr>
              <a:t>A late addition. We held off until the 2D narrative was settled, then added the extruded county map as a 'magnitude reveal' — height = mobility, color = mobility — so the headline argument never depended on 3D for accessibility.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6B6259"/>
                </a:solidFill>
                <a:latin typeface="Arial"/>
              </a:rPr>
              <a:t>The Geography of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45775" y="647395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259"/>
                </a:solidFill>
                <a:latin typeface="Arial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80">
                <a:solidFill>
                  <a:srgbClr val="B5533C"/>
                </a:solidFill>
                <a:latin typeface="Arial"/>
              </a:rPr>
              <a:t>Step 0  ·  Part I — American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36576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 i="1">
                <a:solidFill>
                  <a:srgbClr val="B5533C"/>
                </a:solidFill>
                <a:latin typeface="Arial"/>
              </a:rPr>
              <a:t>→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 i="0">
                <a:solidFill>
                  <a:srgbClr val="1F1B16"/>
                </a:solidFill>
                <a:latin typeface="Georgia"/>
              </a:rPr>
              <a:t>Scrollymap · The American Problem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1">
                <a:solidFill>
                  <a:srgbClr val="6B6259"/>
                </a:solidFill>
                <a:latin typeface="Georgia"/>
              </a:rPr>
              <a:t>County-level mobility map with button-triggered animation through three tiers.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6400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5000"/>
              </a:lnSpc>
            </a:pPr>
            <a:r>
              <a:rPr sz="1800">
                <a:solidFill>
                  <a:srgbClr val="6B6259"/>
                </a:solidFill>
                <a:latin typeface="Arial"/>
              </a:rPr>
              <a:t>–  </a:t>
            </a:r>
            <a:r>
              <a:rPr sz="1800" b="1" i="0">
                <a:solidFill>
                  <a:srgbClr val="B5533C"/>
                </a:solidFill>
                <a:latin typeface="Arial"/>
              </a:rPr>
              <a:t>Stuck </a:t>
            </a:r>
            <a:r>
              <a:rPr sz="1800" b="0" i="0">
                <a:solidFill>
                  <a:srgbClr val="1F1B16"/>
                </a:solidFill>
                <a:latin typeface="Arial"/>
              </a:rPr>
              <a:t>(red) → Treading water (amber) → </a:t>
            </a:r>
            <a:r>
              <a:rPr sz="1800" b="1" i="0">
                <a:solidFill>
                  <a:srgbClr val="5F7A5A"/>
                </a:solidFill>
                <a:latin typeface="Arial"/>
              </a:rPr>
              <a:t>Climbing </a:t>
            </a:r>
            <a:r>
              <a:rPr sz="1800" b="0" i="0">
                <a:solidFill>
                  <a:srgbClr val="1F1B16"/>
                </a:solidFill>
                <a:latin typeface="Arial"/>
              </a:rPr>
              <a:t>(blue)</a:t>
            </a:r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sz="1800">
                <a:solidFill>
                  <a:srgbClr val="6B6259"/>
                </a:solidFill>
                <a:latin typeface="Arial"/>
              </a:rPr>
              <a:t>–  </a:t>
            </a:r>
            <a:r>
              <a:rPr sz="1800">
                <a:solidFill>
                  <a:srgbClr val="1F1B16"/>
                </a:solidFill>
                <a:latin typeface="Arial"/>
              </a:rPr>
              <a:t>Toggleable to state-bubble (Dorling) view</a:t>
            </a:r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sz="1800">
                <a:solidFill>
                  <a:srgbClr val="6B6259"/>
                </a:solidFill>
                <a:latin typeface="Arial"/>
              </a:rPr>
              <a:t>–  </a:t>
            </a:r>
            <a:r>
              <a:rPr sz="1800">
                <a:solidFill>
                  <a:srgbClr val="1F1B16"/>
                </a:solidFill>
                <a:latin typeface="Arial"/>
              </a:rPr>
              <a:t>Click a state → zoom to its counties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846320"/>
            <a:ext cx="6400800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1091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120">
                <a:solidFill>
                  <a:srgbClr val="B5533C"/>
                </a:solidFill>
                <a:latin typeface="Arial"/>
              </a:rPr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21808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 i="1">
                <a:solidFill>
                  <a:srgbClr val="1F1B16"/>
                </a:solidFill>
                <a:latin typeface="Georgia"/>
              </a:rPr>
              <a:t>Play button replaces scroll trigger — fixes layout reflow races on fast scrolls.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19088"/>
            <a:ext cx="6400800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ep0_scrolly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05840"/>
            <a:ext cx="4754880" cy="3747633"/>
          </a:xfrm>
          <a:prstGeom prst="rect">
            <a:avLst/>
          </a:prstGeom>
          <a:ln w="6350">
            <a:solidFill>
              <a:srgbClr val="D9D0C2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6B6259"/>
                </a:solidFill>
                <a:latin typeface="Arial"/>
              </a:rPr>
              <a:t>The Geography of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7395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259"/>
                </a:solidFill>
                <a:latin typeface="Arial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80">
                <a:solidFill>
                  <a:srgbClr val="B5533C"/>
                </a:solidFill>
                <a:latin typeface="Arial"/>
              </a:rPr>
              <a:t>Step 1  ·  Part I — American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36576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 i="1">
                <a:solidFill>
                  <a:srgbClr val="B5533C"/>
                </a:solidFill>
                <a:latin typeface="Arial"/>
              </a:rPr>
              <a:t>→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 i="0">
                <a:solidFill>
                  <a:srgbClr val="1F1B16"/>
                </a:solidFill>
                <a:latin typeface="Georgia"/>
              </a:rPr>
              <a:t>ScatterPlot · Poor vs Rich Children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1">
                <a:solidFill>
                  <a:srgbClr val="6B6259"/>
                </a:solidFill>
                <a:latin typeface="Georgia"/>
              </a:rPr>
              <a:t>Adult-rank by county: children of poor vs. rich parents.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6400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5000"/>
              </a:lnSpc>
            </a:pPr>
            <a:r>
              <a:rPr sz="1800">
                <a:solidFill>
                  <a:srgbClr val="6B6259"/>
                </a:solidFill>
                <a:latin typeface="Arial"/>
              </a:rPr>
              <a:t>–  </a:t>
            </a:r>
            <a:r>
              <a:rPr sz="1800">
                <a:solidFill>
                  <a:srgbClr val="1F1B16"/>
                </a:solidFill>
                <a:latin typeface="Arial"/>
              </a:rPr>
              <a:t>Diagonal = perfect-mobility line</a:t>
            </a:r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sz="1800">
                <a:solidFill>
                  <a:srgbClr val="6B6259"/>
                </a:solidFill>
                <a:latin typeface="Arial"/>
              </a:rPr>
              <a:t>–  </a:t>
            </a:r>
            <a:r>
              <a:rPr sz="1800">
                <a:solidFill>
                  <a:srgbClr val="1F1B16"/>
                </a:solidFill>
                <a:latin typeface="Arial"/>
              </a:rPr>
              <a:t>Color encodes the gap (teal → yellow → red)</a:t>
            </a:r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sz="1800">
                <a:solidFill>
                  <a:srgbClr val="6B6259"/>
                </a:solidFill>
                <a:latin typeface="Arial"/>
              </a:rPr>
              <a:t>–  </a:t>
            </a:r>
            <a:r>
              <a:rPr sz="1800" b="1" i="0">
                <a:solidFill>
                  <a:srgbClr val="B5533C"/>
                </a:solidFill>
                <a:latin typeface="Arial"/>
              </a:rPr>
              <a:t>Annotation: </a:t>
            </a:r>
            <a:r>
              <a:rPr sz="1800" b="0" i="0">
                <a:solidFill>
                  <a:srgbClr val="1F1B16"/>
                </a:solidFill>
                <a:latin typeface="Arial"/>
              </a:rPr>
              <a:t>the three counties with the largest mobility gap are labeled by name.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846320"/>
            <a:ext cx="6400800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1091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120">
                <a:solidFill>
                  <a:srgbClr val="B5533C"/>
                </a:solidFill>
                <a:latin typeface="Arial"/>
              </a:rPr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21808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 i="1">
                <a:solidFill>
                  <a:srgbClr val="1F1B16"/>
                </a:solidFill>
                <a:latin typeface="Georgia"/>
              </a:rPr>
              <a:t>Distance from the diagonal is the mobility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19088"/>
            <a:ext cx="6400800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ep1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05840"/>
            <a:ext cx="4754880" cy="3561707"/>
          </a:xfrm>
          <a:prstGeom prst="rect">
            <a:avLst/>
          </a:prstGeom>
          <a:ln w="6350">
            <a:solidFill>
              <a:srgbClr val="D9D0C2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6B6259"/>
                </a:solidFill>
                <a:latin typeface="Arial"/>
              </a:rPr>
              <a:t>The Geography of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7395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259"/>
                </a:solidFill>
                <a:latin typeface="Arial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80">
                <a:solidFill>
                  <a:srgbClr val="B5533C"/>
                </a:solidFill>
                <a:latin typeface="Arial"/>
              </a:rPr>
              <a:t>Step 2  ·  Part I — American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36576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 i="1">
                <a:solidFill>
                  <a:srgbClr val="B5533C"/>
                </a:solidFill>
                <a:latin typeface="Arial"/>
              </a:rPr>
              <a:t>→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 i="0">
                <a:solidFill>
                  <a:srgbClr val="1F1B16"/>
                </a:solidFill>
                <a:latin typeface="Georgia"/>
              </a:rPr>
              <a:t>ChangeMap · 1978 → 1992 Birth Cohorts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1">
                <a:solidFill>
                  <a:srgbClr val="6B6259"/>
                </a:solidFill>
                <a:latin typeface="Georgia"/>
              </a:rPr>
              <a:t>Animated transition from 1978 baseline to 1992 outcome.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6400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5000"/>
              </a:lnSpc>
            </a:pPr>
            <a:r>
              <a:rPr sz="1800">
                <a:solidFill>
                  <a:srgbClr val="6B6259"/>
                </a:solidFill>
                <a:latin typeface="Arial"/>
              </a:rPr>
              <a:t>–  </a:t>
            </a:r>
            <a:r>
              <a:rPr sz="1800">
                <a:solidFill>
                  <a:srgbClr val="1F1B16"/>
                </a:solidFill>
                <a:latin typeface="Arial"/>
              </a:rPr>
              <a:t>Counties reveal in order of largest absolute change</a:t>
            </a:r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sz="1800">
                <a:solidFill>
                  <a:srgbClr val="6B6259"/>
                </a:solidFill>
                <a:latin typeface="Arial"/>
              </a:rPr>
              <a:t>–  </a:t>
            </a:r>
            <a:r>
              <a:rPr sz="1800" b="1" i="0">
                <a:solidFill>
                  <a:srgbClr val="B5533C"/>
                </a:solidFill>
                <a:latin typeface="Arial"/>
              </a:rPr>
              <a:t>Annotations: </a:t>
            </a:r>
            <a:r>
              <a:rPr sz="1800" b="0" i="0">
                <a:solidFill>
                  <a:srgbClr val="1F1B16"/>
                </a:solidFill>
                <a:latin typeface="Arial"/>
              </a:rPr>
              <a:t>SOUTH / MIDWEST region tags anchor regional prose claims to the map.</a:t>
            </a:r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sz="1800">
                <a:solidFill>
                  <a:srgbClr val="6B6259"/>
                </a:solidFill>
                <a:latin typeface="Arial"/>
              </a:rPr>
              <a:t>–  </a:t>
            </a:r>
            <a:r>
              <a:rPr sz="1800">
                <a:solidFill>
                  <a:srgbClr val="1F1B16"/>
                </a:solidFill>
                <a:latin typeface="Arial"/>
              </a:rPr>
              <a:t>Eye is drawn first to where mobility moved most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846320"/>
            <a:ext cx="6400800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1091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120">
                <a:solidFill>
                  <a:srgbClr val="B5533C"/>
                </a:solidFill>
                <a:latin typeface="Arial"/>
              </a:rPr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21808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 i="1">
                <a:solidFill>
                  <a:srgbClr val="1F1B16"/>
                </a:solidFill>
                <a:latin typeface="Georgia"/>
              </a:rPr>
              <a:t>Reveal order is the magnitude of change, not alphabetical.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19088"/>
            <a:ext cx="6400800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ep2_change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05840"/>
            <a:ext cx="4754880" cy="4091657"/>
          </a:xfrm>
          <a:prstGeom prst="rect">
            <a:avLst/>
          </a:prstGeom>
          <a:ln w="6350">
            <a:solidFill>
              <a:srgbClr val="D9D0C2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6B6259"/>
                </a:solidFill>
                <a:latin typeface="Arial"/>
              </a:rPr>
              <a:t>The Geography of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7395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259"/>
                </a:solidFill>
                <a:latin typeface="Arial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80">
                <a:solidFill>
                  <a:srgbClr val="B5533C"/>
                </a:solidFill>
                <a:latin typeface="Arial"/>
              </a:rPr>
              <a:t>Step 3  ·  Part I — American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36576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 i="1">
                <a:solidFill>
                  <a:srgbClr val="B5533C"/>
                </a:solidFill>
                <a:latin typeface="Arial"/>
              </a:rPr>
              <a:t>→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 i="0">
                <a:solidFill>
                  <a:srgbClr val="1F1B16"/>
                </a:solidFill>
                <a:latin typeface="Georgia"/>
              </a:rPr>
              <a:t>SchoolFunding · The Bridge to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1">
                <a:solidFill>
                  <a:srgbClr val="6B6259"/>
                </a:solidFill>
                <a:latin typeface="Georgia"/>
              </a:rPr>
              <a:t>Stacked bar: Central/Federal vs. Local/State education funding share.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6400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5000"/>
              </a:lnSpc>
            </a:pPr>
            <a:r>
              <a:rPr sz="1800">
                <a:solidFill>
                  <a:srgbClr val="6B6259"/>
                </a:solidFill>
                <a:latin typeface="Arial"/>
              </a:rPr>
              <a:t>–  </a:t>
            </a:r>
            <a:r>
              <a:rPr sz="1800">
                <a:solidFill>
                  <a:srgbClr val="1F1B16"/>
                </a:solidFill>
                <a:latin typeface="Arial"/>
              </a:rPr>
              <a:t>U.S. vs. five wealthy peers</a:t>
            </a:r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sz="1800">
                <a:solidFill>
                  <a:srgbClr val="6B6259"/>
                </a:solidFill>
                <a:latin typeface="Arial"/>
              </a:rPr>
              <a:t>–  </a:t>
            </a:r>
            <a:r>
              <a:rPr sz="1800" b="1" i="0">
                <a:solidFill>
                  <a:srgbClr val="B5533C"/>
                </a:solidFill>
                <a:latin typeface="Arial"/>
              </a:rPr>
              <a:t>Annotation: </a:t>
            </a:r>
            <a:r>
              <a:rPr sz="1800" b="0" i="0">
                <a:solidFill>
                  <a:srgbClr val="1F1B16"/>
                </a:solidFill>
                <a:latin typeface="Arial"/>
              </a:rPr>
              <a:t>big '91% local' headline centered in the U.S. red segment.</a:t>
            </a:r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sz="1800">
                <a:solidFill>
                  <a:srgbClr val="6B6259"/>
                </a:solidFill>
                <a:latin typeface="Arial"/>
              </a:rPr>
              <a:t>–  </a:t>
            </a:r>
            <a:r>
              <a:rPr sz="1800">
                <a:solidFill>
                  <a:srgbClr val="1F1B16"/>
                </a:solidFill>
                <a:latin typeface="Arial"/>
              </a:rPr>
              <a:t>Bridge from the American problem to the global perspective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846320"/>
            <a:ext cx="6400800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1091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120">
                <a:solidFill>
                  <a:srgbClr val="B5533C"/>
                </a:solidFill>
                <a:latin typeface="Arial"/>
              </a:rPr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21808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 i="1">
                <a:solidFill>
                  <a:srgbClr val="1F1B16"/>
                </a:solidFill>
                <a:latin typeface="Georgia"/>
              </a:rPr>
              <a:t>The U.S. funds schools through local property tax — geography of opportunity is geography of the tax base.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19088"/>
            <a:ext cx="6400800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ep3_schoolfu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05840"/>
            <a:ext cx="4754880" cy="3561707"/>
          </a:xfrm>
          <a:prstGeom prst="rect">
            <a:avLst/>
          </a:prstGeom>
          <a:ln w="6350">
            <a:solidFill>
              <a:srgbClr val="D9D0C2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6B6259"/>
                </a:solidFill>
                <a:latin typeface="Arial"/>
              </a:rPr>
              <a:t>The Geography of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7395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259"/>
                </a:solidFill>
                <a:latin typeface="Arial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80">
                <a:solidFill>
                  <a:srgbClr val="B5533C"/>
                </a:solidFill>
                <a:latin typeface="Arial"/>
              </a:rPr>
              <a:t>Step 4  ·  Part II — Global Perspective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36576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 i="1">
                <a:solidFill>
                  <a:srgbClr val="B5533C"/>
                </a:solidFill>
                <a:latin typeface="Arial"/>
              </a:rPr>
              <a:t>→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 i="0">
                <a:solidFill>
                  <a:srgbClr val="1F1B16"/>
                </a:solidFill>
                <a:latin typeface="Georgia"/>
              </a:rPr>
              <a:t>The Great Gatsby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1">
                <a:solidFill>
                  <a:srgbClr val="6B6259"/>
                </a:solidFill>
                <a:latin typeface="Georgia"/>
              </a:rPr>
              <a:t>Cross-country scatter: after-tax Gini vs. intergenerational immobility (IGE).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6400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5000"/>
              </a:lnSpc>
            </a:pPr>
            <a:r>
              <a:rPr sz="1800">
                <a:solidFill>
                  <a:srgbClr val="6B6259"/>
                </a:solidFill>
                <a:latin typeface="Arial"/>
              </a:rPr>
              <a:t>–  </a:t>
            </a:r>
            <a:r>
              <a:rPr sz="1800">
                <a:solidFill>
                  <a:srgbClr val="1F1B16"/>
                </a:solidFill>
                <a:latin typeface="Arial"/>
              </a:rPr>
              <a:t>Trend line: more inequality ↔ less mobility</a:t>
            </a:r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sz="1800">
                <a:solidFill>
                  <a:srgbClr val="6B6259"/>
                </a:solidFill>
                <a:latin typeface="Arial"/>
              </a:rPr>
              <a:t>–  </a:t>
            </a:r>
            <a:r>
              <a:rPr sz="1800" b="1" i="0">
                <a:solidFill>
                  <a:srgbClr val="B5533C"/>
                </a:solidFill>
                <a:latin typeface="Arial"/>
              </a:rPr>
              <a:t>Country labels: </a:t>
            </a:r>
            <a:r>
              <a:rPr sz="1800" b="0" i="0">
                <a:solidFill>
                  <a:srgbClr val="1F1B16"/>
                </a:solidFill>
                <a:latin typeface="Arial"/>
              </a:rPr>
              <a:t>U.S. in terracotta, NORDIC BENCHMARKS caption in sage.</a:t>
            </a:r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sz="1800">
                <a:solidFill>
                  <a:srgbClr val="6B6259"/>
                </a:solidFill>
                <a:latin typeface="Arial"/>
              </a:rPr>
              <a:t>–  </a:t>
            </a:r>
            <a:r>
              <a:rPr sz="1800" b="1" i="0">
                <a:solidFill>
                  <a:srgbClr val="B5533C"/>
                </a:solidFill>
                <a:latin typeface="Arial"/>
              </a:rPr>
              <a:t>Takeaway callout: </a:t>
            </a:r>
            <a:r>
              <a:rPr sz="1800" b="0" i="0">
                <a:solidFill>
                  <a:srgbClr val="1F1B16"/>
                </a:solidFill>
                <a:latin typeface="Arial"/>
              </a:rPr>
              <a:t>'U.S. — high inequality, low mobility' with dashed leader.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846320"/>
            <a:ext cx="6400800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1091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120">
                <a:solidFill>
                  <a:srgbClr val="B5533C"/>
                </a:solidFill>
                <a:latin typeface="Arial"/>
              </a:rPr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21808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 i="1">
                <a:solidFill>
                  <a:srgbClr val="1F1B16"/>
                </a:solidFill>
                <a:latin typeface="Georgia"/>
              </a:rPr>
              <a:t>The U.S. sits up and to the right — the worst quadrant on both axes.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19088"/>
            <a:ext cx="6400800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ep4_gatsb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05840"/>
            <a:ext cx="4754880" cy="6328121"/>
          </a:xfrm>
          <a:prstGeom prst="rect">
            <a:avLst/>
          </a:prstGeom>
          <a:ln w="6350">
            <a:solidFill>
              <a:srgbClr val="D9D0C2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6B6259"/>
                </a:solidFill>
                <a:latin typeface="Arial"/>
              </a:rPr>
              <a:t>The Geography of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7395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259"/>
                </a:solidFill>
                <a:latin typeface="Arial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80">
                <a:solidFill>
                  <a:srgbClr val="B5533C"/>
                </a:solidFill>
                <a:latin typeface="Arial"/>
              </a:rPr>
              <a:t>Step 5  ·  Part II — Global Perspective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36576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 i="1">
                <a:solidFill>
                  <a:srgbClr val="B5533C"/>
                </a:solidFill>
                <a:latin typeface="Arial"/>
              </a:rPr>
              <a:t>→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 i="0">
                <a:solidFill>
                  <a:srgbClr val="1F1B16"/>
                </a:solidFill>
                <a:latin typeface="Georgia"/>
              </a:rPr>
              <a:t>Redistribution Dumbbell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1">
                <a:solidFill>
                  <a:srgbClr val="6B6259"/>
                </a:solidFill>
                <a:latin typeface="Georgia"/>
              </a:rPr>
              <a:t>For 14 countries: market Gini → disposable Gini after taxes/transfers.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6400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5000"/>
              </a:lnSpc>
            </a:pPr>
            <a:r>
              <a:rPr sz="1800">
                <a:solidFill>
                  <a:srgbClr val="6B6259"/>
                </a:solidFill>
                <a:latin typeface="Arial"/>
              </a:rPr>
              <a:t>–  </a:t>
            </a:r>
            <a:r>
              <a:rPr sz="1800">
                <a:solidFill>
                  <a:srgbClr val="1F1B16"/>
                </a:solidFill>
                <a:latin typeface="Arial"/>
              </a:rPr>
              <a:t>Each row's Δ is labeled in points</a:t>
            </a:r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sz="1800">
                <a:solidFill>
                  <a:srgbClr val="6B6259"/>
                </a:solidFill>
                <a:latin typeface="Arial"/>
              </a:rPr>
              <a:t>–  </a:t>
            </a:r>
            <a:r>
              <a:rPr sz="1800" b="1" i="0">
                <a:solidFill>
                  <a:srgbClr val="5F7A5A"/>
                </a:solidFill>
                <a:latin typeface="Arial"/>
              </a:rPr>
              <a:t>Nordic accent: </a:t>
            </a:r>
            <a:r>
              <a:rPr sz="1800" b="0" i="0">
                <a:solidFill>
                  <a:srgbClr val="1F1B16"/>
                </a:solidFill>
                <a:latin typeface="Arial"/>
              </a:rPr>
              <a:t>sage color + thicker line for visual binding to prose claims.</a:t>
            </a:r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sz="1800">
                <a:solidFill>
                  <a:srgbClr val="6B6259"/>
                </a:solidFill>
                <a:latin typeface="Arial"/>
              </a:rPr>
              <a:t>–  </a:t>
            </a:r>
            <a:r>
              <a:rPr sz="1800">
                <a:solidFill>
                  <a:srgbClr val="1F1B16"/>
                </a:solidFill>
                <a:latin typeface="Arial"/>
              </a:rPr>
              <a:t>Headline contrasts U.S. redistribution against the strongest Nordic redistributor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846320"/>
            <a:ext cx="6400800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1091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120">
                <a:solidFill>
                  <a:srgbClr val="B5533C"/>
                </a:solidFill>
                <a:latin typeface="Arial"/>
              </a:rPr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21808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 i="1">
                <a:solidFill>
                  <a:srgbClr val="1F1B16"/>
                </a:solidFill>
                <a:latin typeface="Georgia"/>
              </a:rPr>
              <a:t>Denmark cuts ~25 points; the U.S. cuts under 10. The institutional choice matters.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19088"/>
            <a:ext cx="6400800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ep5_dumbb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05840"/>
            <a:ext cx="4754880" cy="6328121"/>
          </a:xfrm>
          <a:prstGeom prst="rect">
            <a:avLst/>
          </a:prstGeom>
          <a:ln w="6350">
            <a:solidFill>
              <a:srgbClr val="D9D0C2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6B6259"/>
                </a:solidFill>
                <a:latin typeface="Arial"/>
              </a:rPr>
              <a:t>The Geography of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7395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259"/>
                </a:solidFill>
                <a:latin typeface="Arial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80">
                <a:solidFill>
                  <a:srgbClr val="B5533C"/>
                </a:solidFill>
                <a:latin typeface="Arial"/>
              </a:rPr>
              <a:t>Step 6  ·  Part II — Global Perspective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36576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 i="1">
                <a:solidFill>
                  <a:srgbClr val="B5533C"/>
                </a:solidFill>
                <a:latin typeface="Arial"/>
              </a:rPr>
              <a:t>→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 i="0">
                <a:solidFill>
                  <a:srgbClr val="1F1B16"/>
                </a:solidFill>
                <a:latin typeface="Georgia"/>
              </a:rPr>
              <a:t>Mobility League · The Closing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1">
                <a:solidFill>
                  <a:srgbClr val="6B6259"/>
                </a:solidFill>
                <a:latin typeface="Georgia"/>
              </a:rPr>
              <a:t>Ranking of 20 major economies by intergenerational immobility (IGE).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6400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5000"/>
              </a:lnSpc>
            </a:pPr>
            <a:r>
              <a:rPr sz="1800">
                <a:solidFill>
                  <a:srgbClr val="6B6259"/>
                </a:solidFill>
                <a:latin typeface="Arial"/>
              </a:rPr>
              <a:t>–  </a:t>
            </a:r>
            <a:r>
              <a:rPr sz="1800" b="1" i="0">
                <a:solidFill>
                  <a:srgbClr val="B5533C"/>
                </a:solidFill>
                <a:latin typeface="Arial"/>
              </a:rPr>
              <a:t>Morph animation: </a:t>
            </a:r>
            <a:r>
              <a:rPr sz="1800" b="0" i="0">
                <a:solidFill>
                  <a:srgbClr val="1F1B16"/>
                </a:solidFill>
                <a:latin typeface="Arial"/>
              </a:rPr>
              <a:t>scatter dots morph into sorted bar ranking (~1.2s, rect-with-rx interpolation).</a:t>
            </a:r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sz="1800">
                <a:solidFill>
                  <a:srgbClr val="6B6259"/>
                </a:solidFill>
                <a:latin typeface="Arial"/>
              </a:rPr>
              <a:t>–  </a:t>
            </a:r>
            <a:r>
              <a:rPr sz="1800" b="1" i="0">
                <a:solidFill>
                  <a:srgbClr val="B5533C"/>
                </a:solidFill>
                <a:latin typeface="Arial"/>
              </a:rPr>
              <a:t>U.S. callout: </a:t>
            </a:r>
            <a:r>
              <a:rPr sz="1800" b="0" i="0">
                <a:solidFill>
                  <a:srgbClr val="1F1B16"/>
                </a:solidFill>
                <a:latin typeface="Arial"/>
              </a:rPr>
              <a:t>'rank 10 of 20' with dashed leader line.</a:t>
            </a:r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sz="1800">
                <a:solidFill>
                  <a:srgbClr val="6B6259"/>
                </a:solidFill>
                <a:latin typeface="Arial"/>
              </a:rPr>
              <a:t>–  </a:t>
            </a:r>
            <a:r>
              <a:rPr sz="1800">
                <a:solidFill>
                  <a:srgbClr val="1F1B16"/>
                </a:solidFill>
                <a:latin typeface="Arial"/>
              </a:rPr>
              <a:t>▸ peer tags on Canada, Sweden, U.K., Japan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846320"/>
            <a:ext cx="6400800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1091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120">
                <a:solidFill>
                  <a:srgbClr val="B5533C"/>
                </a:solidFill>
                <a:latin typeface="Arial"/>
              </a:rPr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21808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 i="1">
                <a:solidFill>
                  <a:srgbClr val="1F1B16"/>
                </a:solidFill>
                <a:latin typeface="Georgia"/>
              </a:rPr>
              <a:t>Continuity from Step 4 to Step 6 is the whole argument: same world, viewed two ways.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19088"/>
            <a:ext cx="6400800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ep6_leag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05840"/>
            <a:ext cx="4754880" cy="6328121"/>
          </a:xfrm>
          <a:prstGeom prst="rect">
            <a:avLst/>
          </a:prstGeom>
          <a:ln w="6350">
            <a:solidFill>
              <a:srgbClr val="D9D0C2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6B6259"/>
                </a:solidFill>
                <a:latin typeface="Arial"/>
              </a:rPr>
              <a:t>The Geography of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7395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259"/>
                </a:solidFill>
                <a:latin typeface="Arial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80">
                <a:solidFill>
                  <a:srgbClr val="B5533C"/>
                </a:solidFill>
                <a:latin typeface="Arial"/>
              </a:rPr>
              <a:t>Bonus Step 7  ·  deck.gl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36576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 i="1">
                <a:solidFill>
                  <a:srgbClr val="B5533C"/>
                </a:solidFill>
                <a:latin typeface="Arial"/>
              </a:rPr>
              <a:t>→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 i="0">
                <a:solidFill>
                  <a:srgbClr val="1F1B16"/>
                </a:solidFill>
                <a:latin typeface="Georgia"/>
              </a:rPr>
              <a:t>Bonus · A Topography of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1">
                <a:solidFill>
                  <a:srgbClr val="6B6259"/>
                </a:solidFill>
                <a:latin typeface="Georgia"/>
              </a:rPr>
              <a:t>3D extruded county map — height = mobility for poor-parent children (1992 cohort).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6400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5000"/>
              </a:lnSpc>
            </a:pPr>
            <a:r>
              <a:rPr sz="1800">
                <a:solidFill>
                  <a:srgbClr val="6B6259"/>
                </a:solidFill>
                <a:latin typeface="Arial"/>
              </a:rPr>
              <a:t>–  </a:t>
            </a:r>
            <a:r>
              <a:rPr sz="1800" b="1" i="0">
                <a:solidFill>
                  <a:srgbClr val="B5533C"/>
                </a:solidFill>
                <a:latin typeface="Arial"/>
              </a:rPr>
              <a:t>Tech: </a:t>
            </a:r>
            <a:r>
              <a:rPr sz="1800" b="0" i="0">
                <a:solidFill>
                  <a:srgbClr val="1F1B16"/>
                </a:solidFill>
                <a:latin typeface="Arial"/>
              </a:rPr>
              <a:t>deck.gl OrbitView + ColumnLayer + PathLayer, lazy-loaded.</a:t>
            </a:r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sz="1800">
                <a:solidFill>
                  <a:srgbClr val="6B6259"/>
                </a:solidFill>
                <a:latin typeface="Arial"/>
              </a:rPr>
              <a:t>–  </a:t>
            </a:r>
            <a:r>
              <a:rPr sz="1800">
                <a:solidFill>
                  <a:srgbClr val="1F1B16"/>
                </a:solidFill>
                <a:latin typeface="Arial"/>
              </a:rPr>
              <a:t>Drag to orbit  ·  Scroll to zoom  ·  Hover for county detail</a:t>
            </a:r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sz="1800">
                <a:solidFill>
                  <a:srgbClr val="6B6259"/>
                </a:solidFill>
                <a:latin typeface="Arial"/>
              </a:rPr>
              <a:t>–  </a:t>
            </a:r>
            <a:r>
              <a:rPr sz="1800">
                <a:solidFill>
                  <a:srgbClr val="1F1B16"/>
                </a:solidFill>
                <a:latin typeface="Arial"/>
              </a:rPr>
              <a:t>2D answers WHICH counties are stuck. 3D answers HOW DRAMATIC.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846320"/>
            <a:ext cx="6400800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1091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120">
                <a:solidFill>
                  <a:srgbClr val="B5533C"/>
                </a:solidFill>
                <a:latin typeface="Arial"/>
              </a:rPr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21808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 i="1">
                <a:solidFill>
                  <a:srgbClr val="1F1B16"/>
                </a:solidFill>
                <a:latin typeface="Georgia"/>
              </a:rPr>
              <a:t>2D answers which counties are stuck. 3D makes the magnitude visceral.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19088"/>
            <a:ext cx="6400800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ep7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05840"/>
            <a:ext cx="4754880" cy="6328121"/>
          </a:xfrm>
          <a:prstGeom prst="rect">
            <a:avLst/>
          </a:prstGeom>
          <a:ln w="6350">
            <a:solidFill>
              <a:srgbClr val="D9D0C2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6B6259"/>
                </a:solidFill>
                <a:latin typeface="Arial"/>
              </a:rPr>
              <a:t>The Geography of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7395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259"/>
                </a:solidFill>
                <a:latin typeface="Arial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80">
                <a:solidFill>
                  <a:srgbClr val="B5533C"/>
                </a:solidFill>
                <a:latin typeface="Arial"/>
              </a:rPr>
              <a:t>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400" b="1" i="0">
                <a:solidFill>
                  <a:srgbClr val="1F1B16"/>
                </a:solidFill>
                <a:latin typeface="Georgia"/>
              </a:rPr>
              <a:t>What Mattered —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B5533C"/>
                </a:solidFill>
                <a:latin typeface="Georgia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55648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F1B16"/>
                </a:solidFill>
                <a:latin typeface="Arial"/>
              </a:rPr>
              <a:t>Two-act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12848"/>
            <a:ext cx="5257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500" b="0" i="0">
                <a:solidFill>
                  <a:srgbClr val="1F1B16"/>
                </a:solidFill>
                <a:latin typeface="Arial"/>
              </a:rPr>
              <a:t>Local → global lets the reader internalize within-country spread before weighing the U.S. against peers.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73736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B5533C"/>
                </a:solidFill>
                <a:latin typeface="Georgia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755648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F1B16"/>
                </a:solidFill>
                <a:latin typeface="Arial"/>
              </a:rPr>
              <a:t>Sticky right 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212848"/>
            <a:ext cx="5257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500" b="0" i="0">
                <a:solidFill>
                  <a:srgbClr val="1F1B16"/>
                </a:solidFill>
                <a:latin typeface="Arial"/>
              </a:rPr>
              <a:t>Chart stays anchored; prose advances on the left. Each narrative beat resolves against a visible mark.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45536"/>
            <a:ext cx="11094415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18688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B5533C"/>
                </a:solidFill>
                <a:latin typeface="Georgia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36976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F1B16"/>
                </a:solidFill>
                <a:latin typeface="Arial"/>
              </a:rPr>
              <a:t>Word–image binding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94176"/>
            <a:ext cx="5257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500" b="0" i="0">
                <a:solidFill>
                  <a:srgbClr val="1F1B16"/>
                </a:solidFill>
                <a:latin typeface="Arial"/>
              </a:rPr>
              <a:t>When prose names a country, that row is visibly distinguished — deep-blue label, peer tag, leader 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218688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B5533C"/>
                </a:solidFill>
                <a:latin typeface="Georgia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236976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F1B16"/>
                </a:solidFill>
                <a:latin typeface="Arial"/>
              </a:rPr>
              <a:t>Curated league of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694176"/>
            <a:ext cx="5257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500" b="0" i="0">
                <a:solidFill>
                  <a:srgbClr val="1F1B16"/>
                </a:solidFill>
                <a:latin typeface="Arial"/>
              </a:rPr>
              <a:t>Restricted to major economies. Low-IGE outliers (Mauritius, Maldives) muddied the rich-peer framing.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26864"/>
            <a:ext cx="11094415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700016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B5533C"/>
                </a:solidFill>
                <a:latin typeface="Georgia"/>
              </a:rP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18304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F1B16"/>
                </a:solidFill>
                <a:latin typeface="Arial"/>
              </a:rPr>
              <a:t>Button trigger over scroll trigger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75504"/>
            <a:ext cx="5257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500" b="0" i="0">
                <a:solidFill>
                  <a:srgbClr val="1F1B16"/>
                </a:solidFill>
                <a:latin typeface="Arial"/>
              </a:rPr>
              <a:t>Step 0 uses a Play button — fixes layout reflow races on fast scrolls. Determinism over cleverness.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700016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B5533C"/>
                </a:solidFill>
                <a:latin typeface="Georgia"/>
              </a:rPr>
              <a:t>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718304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F1B16"/>
                </a:solidFill>
                <a:latin typeface="Arial"/>
              </a:rPr>
              <a:t>3D as bonus, not opener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175504"/>
            <a:ext cx="5257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500" b="0" i="0">
                <a:solidFill>
                  <a:srgbClr val="1F1B16"/>
                </a:solidFill>
                <a:latin typeface="Arial"/>
              </a:rPr>
              <a:t>Color encoding is more accessible for the headline argument. 3D is for magnitude impact at the end.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6B6259"/>
                </a:solidFill>
                <a:latin typeface="Arial"/>
              </a:rPr>
              <a:t>The Geography of Opportunity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45775" y="647395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259"/>
                </a:solidFill>
                <a:latin typeface="Arial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80">
                <a:solidFill>
                  <a:srgbClr val="B5533C"/>
                </a:solidFill>
                <a:latin typeface="Arial"/>
              </a:rPr>
              <a:t>Animation &amp; Interaction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400" b="1" i="0">
                <a:solidFill>
                  <a:srgbClr val="1F1B16"/>
                </a:solidFill>
                <a:latin typeface="Georgia"/>
              </a:rPr>
              <a:t>What Moves, What the Reader Can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1965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6B6259"/>
                </a:solidFill>
                <a:latin typeface="Georg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19656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F1B16"/>
                </a:solidFill>
                <a:latin typeface="Arial"/>
              </a:rPr>
              <a:t>Morph animation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1819656"/>
            <a:ext cx="59280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1F1B16"/>
                </a:solidFill>
                <a:latin typeface="Arial"/>
              </a:rPr>
              <a:t>scatter → bar ranking on Step 6 (~1.2s, rect-with-rx interpolation)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68296"/>
            <a:ext cx="11094415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3230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6B6259"/>
                </a:solidFill>
                <a:latin typeface="Georg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F1B16"/>
                </a:solidFill>
                <a:latin typeface="Arial"/>
              </a:rPr>
              <a:t>Animated reveal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2432304"/>
            <a:ext cx="59280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1F1B16"/>
                </a:solidFill>
                <a:latin typeface="Arial"/>
              </a:rPr>
              <a:t>county-by-county fill transition on Step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80944"/>
            <a:ext cx="11094415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4495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6B6259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044952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F1B16"/>
                </a:solidFill>
                <a:latin typeface="Arial"/>
              </a:rPr>
              <a:t>Button-triggered 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3044952"/>
            <a:ext cx="59280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1F1B16"/>
                </a:solidFill>
                <a:latin typeface="Arial"/>
              </a:rPr>
              <a:t>Step 0 with Replay — deterministic, no scroll races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93592"/>
            <a:ext cx="11094415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6B6259"/>
                </a:solidFill>
                <a:latin typeface="Georg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6576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F1B16"/>
                </a:solidFill>
                <a:latin typeface="Arial"/>
              </a:rPr>
              <a:t>Hover tooltips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3657600"/>
            <a:ext cx="59280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1F1B16"/>
                </a:solidFill>
                <a:latin typeface="Arial"/>
              </a:rPr>
              <a:t>every chart — country / county / value detail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06240"/>
            <a:ext cx="11094415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7024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6B6259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27024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F1B16"/>
                </a:solidFill>
                <a:latin typeface="Arial"/>
              </a:rPr>
              <a:t>State drill-down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4270248"/>
            <a:ext cx="59280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1F1B16"/>
                </a:solidFill>
                <a:latin typeface="Arial"/>
              </a:rPr>
              <a:t>Dorling bubble view → click state → zoom to counties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18888"/>
            <a:ext cx="11094415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88289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6B6259"/>
                </a:solidFill>
                <a:latin typeface="Georg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882896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F1B16"/>
                </a:solidFill>
                <a:latin typeface="Arial"/>
              </a:rPr>
              <a:t>3D orbit + zoom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4882896"/>
            <a:ext cx="59280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1F1B16"/>
                </a:solidFill>
                <a:latin typeface="Arial"/>
              </a:rPr>
              <a:t>bonus Step 7 (deck.gl OrbitView, lazy-loaded)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431536"/>
            <a:ext cx="11094415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49554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6B6259"/>
                </a:solidFill>
                <a:latin typeface="Georgia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49554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F1B16"/>
                </a:solidFill>
                <a:latin typeface="Arial"/>
              </a:rPr>
              <a:t>In-chart annotations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5495544"/>
            <a:ext cx="59280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1F1B16"/>
                </a:solidFill>
                <a:latin typeface="Arial"/>
              </a:rPr>
              <a:t>every step — prose references resolve to specific marks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6B6259"/>
                </a:solidFill>
                <a:latin typeface="Arial"/>
              </a:rPr>
              <a:t>The Geography of Opportunity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45775" y="647395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259"/>
                </a:solidFill>
                <a:latin typeface="Arial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80">
                <a:solidFill>
                  <a:srgbClr val="B5533C"/>
                </a:solidFill>
                <a:latin typeface="Arial"/>
              </a:rPr>
              <a:t>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400" b="1" i="0">
                <a:solidFill>
                  <a:srgbClr val="1F1B16"/>
                </a:solidFill>
                <a:latin typeface="Georgia"/>
              </a:rPr>
              <a:t>What Worked · What We'd Redo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33375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 spc="80">
                <a:solidFill>
                  <a:srgbClr val="5F7A5A"/>
                </a:solidFill>
                <a:latin typeface="Arial"/>
              </a:rPr>
              <a:t>What worked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33375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600" b="0" i="0">
                <a:solidFill>
                  <a:srgbClr val="1F1B16"/>
                </a:solidFill>
                <a:latin typeface="Georgia"/>
              </a:rPr>
              <a:t>Scrollytelling kept the argument sequenced. Sticky charts gave each prose beat a visual anchor. The 3D bonus at the end gave a magnitude reveal without competing with the 2D choropleth's accessibility.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1783080"/>
            <a:ext cx="9525" cy="3840480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1783080"/>
            <a:ext cx="33375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 spc="80">
                <a:solidFill>
                  <a:srgbClr val="6B6259"/>
                </a:solidFill>
                <a:latin typeface="Arial"/>
              </a:rPr>
              <a:t>What we'd redo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2286000"/>
            <a:ext cx="33375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600" b="0" i="0">
                <a:solidFill>
                  <a:srgbClr val="1F1B16"/>
                </a:solidFill>
                <a:latin typeface="Georgia"/>
              </a:rPr>
              <a:t>Invest more in keyboard-only interaction for the 3D scene — orbit/zoom currently rely on mouse gestures. Add an elevation slider for non-mouse users.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783080"/>
            <a:ext cx="9525" cy="3840480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1783080"/>
            <a:ext cx="33375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 spc="80">
                <a:solidFill>
                  <a:srgbClr val="B5533C"/>
                </a:solidFill>
                <a:latin typeface="Arial"/>
              </a:rPr>
              <a:t>Hardest part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2286000"/>
            <a:ext cx="33375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600" b="0" i="0">
                <a:solidFill>
                  <a:srgbClr val="1F1B16"/>
                </a:solidFill>
                <a:latin typeface="Georgia"/>
              </a:rPr>
              <a:t>Keeping the same 20-country roster visually consistent across Steps 4, 5, 6. The morph animation is what makes the roster legible — the eye carries identity from one chart to the next.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6B6259"/>
                </a:solidFill>
                <a:latin typeface="Arial"/>
              </a:rPr>
              <a:t>The Geography of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7395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6259"/>
                </a:solidFill>
                <a:latin typeface="Arial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17320"/>
            <a:ext cx="110944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80">
                <a:solidFill>
                  <a:srgbClr val="D67A5C"/>
                </a:solidFill>
                <a:latin typeface="Arial"/>
              </a:rP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74519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400" b="1" i="0">
                <a:solidFill>
                  <a:srgbClr val="F4EFE6"/>
                </a:solidFill>
                <a:latin typeface="Georgia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46120"/>
            <a:ext cx="9144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 i="1">
                <a:solidFill>
                  <a:srgbClr val="D9D0C2"/>
                </a:solidFill>
                <a:latin typeface="Georgia"/>
              </a:rPr>
              <a:t>We're happy to take questions.</a:t>
            </a:r>
          </a:p>
        </p:txBody>
      </p:sp>
      <p:pic>
        <p:nvPicPr>
          <p:cNvPr id="5" name="Picture 4" descr="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840480"/>
            <a:ext cx="14630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539496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 spc="80">
                <a:solidFill>
                  <a:srgbClr val="D67A5C"/>
                </a:solidFill>
                <a:latin typeface="Arial"/>
              </a:rP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D9D0C2"/>
                </a:solidFill>
                <a:latin typeface="Courier New"/>
              </a:rPr>
              <a:t>57777-bit.github.io/5609finalProject</a:t>
            </a:r>
          </a:p>
        </p:txBody>
      </p:sp>
      <p:pic>
        <p:nvPicPr>
          <p:cNvPr id="8" name="Picture 7" descr="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840480"/>
            <a:ext cx="1463040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0" y="539496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 spc="80">
                <a:solidFill>
                  <a:srgbClr val="D67A5C"/>
                </a:solidFill>
                <a:latin typeface="Arial"/>
              </a:rPr>
              <a:t>REPO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7607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D9D0C2"/>
                </a:solidFill>
                <a:latin typeface="Courier New"/>
              </a:rPr>
              <a:t>github.com/57777-bit/5609finalProject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806440"/>
            <a:ext cx="11094415" cy="9525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9161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80">
                <a:solidFill>
                  <a:srgbClr val="D67A5C"/>
                </a:solidFill>
                <a:latin typeface="Arial"/>
              </a:rPr>
              <a:t>Acknowledgements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1792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400" b="0" i="0">
                <a:solidFill>
                  <a:srgbClr val="F4EFE6"/>
                </a:solidFill>
                <a:latin typeface="Georgia"/>
              </a:rPr>
              <a:t>Chetty et al. · Opportunity Atlas  ·  World Bank GDIM 2023  ·  Frederick Solt SWIID v9.6  ·  Mike Bostock TopoJSON Atlas  ·  D3  ·  Svelte / SvelteKit  ·  deck.gl  ·  OECD Education at a Glance  ·  Special thanks to Prof. Qianwen Wang and the CSCI 5609 TAs.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