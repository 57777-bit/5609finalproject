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 interactive scrollytelling piece that asks two linked questions: how unequal is opportunity inside the U.S., and how does the U.S. as a whole stack up against its wealthy peers? The whole argument is a local-to-global pivot, and we kept it as a single scroll from a county map all the way out to a 20-country mobility ranking.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structure as local→global so the audience first feels the within-country spread, then is asked to weigh the U.S. against peer economies. The pivot point is school funding — Step 3 is the bridge.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public, all loaded statically — no backend. Counties at 10M-vertex Albers USA projection. We bridge GDIM and SWIID by inner-joining on country name; that's how Step 4 (Gatsby curve) and Step 5 (redistribution dumbbell) share the same 14-country roster.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site — no backend. Sticky right panel with scrollytelling left panel. The chart stays anchored as the prose advances, so each narrative beat resolves against a visible mark. Deploy is fully automated via GitHub Actions on every push to 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uses a Play button instead of a scroll trigger because scroll triggers were producing layout reflow races on fast scrolls. The button locks the section to 100vh and removes that bug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 from the diagonal is the mobility gap. The reddest, most-distant points get named on the chart so the prose has a target.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animation reveals counties from the largest changes inward, so the eye is drawn first to where mobility moved most. The regional tags let us say 'the Mississippi Delta lost ground' and have a target to point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the American problem to the global perspective. The U.S. funds schools through local property tax — so the geography of opportunity is partly the geography of the tax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canonical Great Gatsby curve. The U.S. sits up and to the right — the worst quadrant on both axes. The dashed leader line on the U.S. dot means the prose claim resolves to a specific mark.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starting market inequality can land at very different places. Denmark cuts roughly 25 points; the U.S. cuts under 10. The institutional choice matters more than the starting condition.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chart, and the morph is intentional — it makes visible that the SAME 20 countries we just showed scattered against inequality are now ranked. The continuity from Step 4 to Step 6 is the whole argument: same world, viewed two ways.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2D choropleth answers which counties are stuck. The 3D extrusion answers how dramatic the difference is between neighbors — the mountains and the valleys aren't even on the same scale. We kept it as a bonus rather than the opener because color encoding remains more accessible for the headline argument; the 3D is here to make the magnitude visceral.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these decisions came from things that broke. The button trigger replaced a scroll trigger that raced. The curated league replaced a naive 'all countries' view that buried the U.S. in noise. The 3D was deliberately kept as a bonus rather than competing with the 2D choropleth's accessibility for the headline argument.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chart has at least one motion or interaction. Step 6's morph is the visual climax — the same 20 countries from Step 4's scatter literally flow into a sorted ranking. Step 7's 3D adds a magnitude dimension that flat color can't carry.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had another week we'd add keyboard navigation to the 3D scene and an elevation slider for non-mouse users. The hardest engineering problem was actually keeping the 20-country roster consistent across Steps 4, 5, and 6 — the morph animation is what carries identity through.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The QR codes go to the live demo and the repo. Common questions to be ready for: data limitations, why we picked 1992 specifically (Opportunity Atlas's earliest robust cohort), why IGE not rank correlation (GDIM uses IGE; we kept their measure to avoid double conversion), and why the 3D is a bonus not the opener (color encoding is more accessible for the headline argument).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Rectangle 1"/>
          <p:cNvSpPr/>
          <p:nvPr/>
        </p:nvSpPr>
        <p:spPr>
          <a:xfrm>
            <a:off x="548640" y="2011680"/>
            <a:ext cx="137160" cy="2286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828800"/>
            <a:ext cx="10515600" cy="457200"/>
          </a:xfrm>
          <a:prstGeom prst="rect">
            <a:avLst/>
          </a:prstGeom>
          <a:noFill/>
        </p:spPr>
        <p:txBody>
          <a:bodyPr wrap="square" lIns="0" rIns="0" tIns="0" bIns="0" anchor="t">
            <a:spAutoFit/>
          </a:bodyPr>
          <a:lstStyle/>
          <a:p>
            <a:pPr algn="l"/>
            <a:r>
              <a:rPr sz="1400" b="1">
                <a:solidFill>
                  <a:srgbClr val="FFC0B6"/>
                </a:solidFill>
                <a:latin typeface="Calibri"/>
              </a:rPr>
              <a:t>CSCI 5609 · FINAL PROJECT · SPRING 2026</a:t>
            </a:r>
          </a:p>
        </p:txBody>
      </p:sp>
      <p:sp>
        <p:nvSpPr>
          <p:cNvPr id="4" name="TextBox 3"/>
          <p:cNvSpPr txBox="1"/>
          <p:nvPr/>
        </p:nvSpPr>
        <p:spPr>
          <a:xfrm>
            <a:off x="868680" y="2331720"/>
            <a:ext cx="10972800" cy="1280160"/>
          </a:xfrm>
          <a:prstGeom prst="rect">
            <a:avLst/>
          </a:prstGeom>
          <a:noFill/>
        </p:spPr>
        <p:txBody>
          <a:bodyPr wrap="square" lIns="0" rIns="0" tIns="0" bIns="0" anchor="t">
            <a:spAutoFit/>
          </a:bodyPr>
          <a:lstStyle/>
          <a:p>
            <a:pPr algn="l"/>
            <a:r>
              <a:rPr sz="5800" b="1">
                <a:solidFill>
                  <a:srgbClr val="FFFFFF"/>
                </a:solidFill>
                <a:latin typeface="Calibri"/>
              </a:rPr>
              <a:t>The Geography of Opportunity</a:t>
            </a:r>
          </a:p>
        </p:txBody>
      </p:sp>
      <p:sp>
        <p:nvSpPr>
          <p:cNvPr id="5" name="TextBox 4"/>
          <p:cNvSpPr txBox="1"/>
          <p:nvPr/>
        </p:nvSpPr>
        <p:spPr>
          <a:xfrm>
            <a:off x="868680" y="3520440"/>
            <a:ext cx="10972800" cy="640080"/>
          </a:xfrm>
          <a:prstGeom prst="rect">
            <a:avLst/>
          </a:prstGeom>
          <a:noFill/>
        </p:spPr>
        <p:txBody>
          <a:bodyPr wrap="square" lIns="0" rIns="0" tIns="0" bIns="0" anchor="t">
            <a:spAutoFit/>
          </a:bodyPr>
          <a:lstStyle/>
          <a:p>
            <a:pPr algn="l"/>
            <a:r>
              <a:rPr sz="2400" b="0">
                <a:solidFill>
                  <a:srgbClr val="E0E6EE"/>
                </a:solidFill>
                <a:latin typeface="Calibri"/>
              </a:rPr>
              <a:t>How birthplace shapes the chance of climbing —</a:t>
            </a:r>
          </a:p>
        </p:txBody>
      </p:sp>
      <p:sp>
        <p:nvSpPr>
          <p:cNvPr id="6" name="TextBox 5"/>
          <p:cNvSpPr txBox="1"/>
          <p:nvPr/>
        </p:nvSpPr>
        <p:spPr>
          <a:xfrm>
            <a:off x="868680" y="3931920"/>
            <a:ext cx="10972800" cy="640080"/>
          </a:xfrm>
          <a:prstGeom prst="rect">
            <a:avLst/>
          </a:prstGeom>
          <a:noFill/>
        </p:spPr>
        <p:txBody>
          <a:bodyPr wrap="square" lIns="0" rIns="0" tIns="0" bIns="0" anchor="t">
            <a:spAutoFit/>
          </a:bodyPr>
          <a:lstStyle/>
          <a:p>
            <a:pPr algn="l"/>
            <a:r>
              <a:rPr sz="2400" b="0">
                <a:solidFill>
                  <a:srgbClr val="E0E6EE"/>
                </a:solidFill>
                <a:latin typeface="Calibri"/>
              </a:rPr>
              <a:t>and how the U.S. compares globally.</a:t>
            </a:r>
          </a:p>
        </p:txBody>
      </p:sp>
      <p:sp>
        <p:nvSpPr>
          <p:cNvPr id="7" name="Rectangle 6"/>
          <p:cNvSpPr/>
          <p:nvPr/>
        </p:nvSpPr>
        <p:spPr>
          <a:xfrm>
            <a:off x="868680" y="4846320"/>
            <a:ext cx="6400800" cy="36576"/>
          </a:xfrm>
          <a:prstGeom prst="rect">
            <a:avLst/>
          </a:prstGeom>
          <a:solidFill>
            <a:srgbClr val="FFC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10972800" cy="365760"/>
          </a:xfrm>
          <a:prstGeom prst="rect">
            <a:avLst/>
          </a:prstGeom>
          <a:noFill/>
        </p:spPr>
        <p:txBody>
          <a:bodyPr wrap="square" lIns="0" rIns="0" tIns="0" bIns="0" anchor="t">
            <a:spAutoFit/>
          </a:bodyPr>
          <a:lstStyle/>
          <a:p>
            <a:pPr algn="l"/>
            <a:r>
              <a:rPr sz="1800" b="1">
                <a:solidFill>
                  <a:srgbClr val="FFFFFF"/>
                </a:solidFill>
                <a:latin typeface="Calibri"/>
              </a:rPr>
              <a:t>Brandon Borzello   ·   Harris Li   ·   Qi Wu   ·   Yiqi Huang</a:t>
            </a:r>
          </a:p>
        </p:txBody>
      </p:sp>
      <p:sp>
        <p:nvSpPr>
          <p:cNvPr id="9" name="TextBox 8"/>
          <p:cNvSpPr txBox="1"/>
          <p:nvPr/>
        </p:nvSpPr>
        <p:spPr>
          <a:xfrm>
            <a:off x="868680" y="6126480"/>
            <a:ext cx="10972800" cy="274320"/>
          </a:xfrm>
          <a:prstGeom prst="rect">
            <a:avLst/>
          </a:prstGeom>
          <a:noFill/>
        </p:spPr>
        <p:txBody>
          <a:bodyPr wrap="square" lIns="0" rIns="0" tIns="0" bIns="0" anchor="t">
            <a:spAutoFit/>
          </a:bodyPr>
          <a:lstStyle/>
          <a:p>
            <a:pPr algn="l"/>
            <a:r>
              <a:rPr sz="1200" b="0">
                <a:solidFill>
                  <a:srgbClr val="FFC0B6"/>
                </a:solidFill>
                <a:latin typeface="Consolas"/>
              </a:rPr>
              <a:t>https://57777-bit.github.io/5609finalProject/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OUR FRAMING</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The Question</a:t>
            </a:r>
          </a:p>
        </p:txBody>
      </p:sp>
      <p:sp>
        <p:nvSpPr>
          <p:cNvPr id="6" name="Rectangle 5"/>
          <p:cNvSpPr/>
          <p:nvPr/>
        </p:nvSpPr>
        <p:spPr>
          <a:xfrm>
            <a:off x="914400" y="2011680"/>
            <a:ext cx="10332720" cy="182880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011680"/>
            <a:ext cx="109728" cy="18288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286000"/>
            <a:ext cx="9601200" cy="548640"/>
          </a:xfrm>
          <a:prstGeom prst="rect">
            <a:avLst/>
          </a:prstGeom>
          <a:noFill/>
        </p:spPr>
        <p:txBody>
          <a:bodyPr wrap="square" lIns="0" rIns="0" tIns="0" bIns="0" anchor="t">
            <a:spAutoFit/>
          </a:bodyPr>
          <a:lstStyle/>
          <a:p>
            <a:pPr algn="l"/>
            <a:r>
              <a:rPr sz="2200" b="1">
                <a:solidFill>
                  <a:srgbClr val="2C3E50"/>
                </a:solidFill>
                <a:latin typeface="Calibri"/>
              </a:rPr>
              <a:t>How much does where an American child grows up shape their adult</a:t>
            </a:r>
          </a:p>
        </p:txBody>
      </p:sp>
      <p:sp>
        <p:nvSpPr>
          <p:cNvPr id="9" name="TextBox 8"/>
          <p:cNvSpPr txBox="1"/>
          <p:nvPr/>
        </p:nvSpPr>
        <p:spPr>
          <a:xfrm>
            <a:off x="1371600" y="2788920"/>
            <a:ext cx="9601200" cy="548640"/>
          </a:xfrm>
          <a:prstGeom prst="rect">
            <a:avLst/>
          </a:prstGeom>
          <a:noFill/>
        </p:spPr>
        <p:txBody>
          <a:bodyPr wrap="square" lIns="0" rIns="0" tIns="0" bIns="0" anchor="t">
            <a:spAutoFit/>
          </a:bodyPr>
          <a:lstStyle/>
          <a:p>
            <a:pPr algn="l"/>
            <a:r>
              <a:rPr sz="2200" b="1">
                <a:solidFill>
                  <a:srgbClr val="2C3E50"/>
                </a:solidFill>
                <a:latin typeface="Calibri"/>
              </a:rPr>
              <a:t>economic outcomes — and how does the U.S. compare against</a:t>
            </a:r>
          </a:p>
        </p:txBody>
      </p:sp>
      <p:sp>
        <p:nvSpPr>
          <p:cNvPr id="10" name="TextBox 9"/>
          <p:cNvSpPr txBox="1"/>
          <p:nvPr/>
        </p:nvSpPr>
        <p:spPr>
          <a:xfrm>
            <a:off x="1371600" y="3291840"/>
            <a:ext cx="9601200" cy="548640"/>
          </a:xfrm>
          <a:prstGeom prst="rect">
            <a:avLst/>
          </a:prstGeom>
          <a:noFill/>
        </p:spPr>
        <p:txBody>
          <a:bodyPr wrap="square" lIns="0" rIns="0" tIns="0" bIns="0" anchor="t">
            <a:spAutoFit/>
          </a:bodyPr>
          <a:lstStyle/>
          <a:p>
            <a:pPr algn="l"/>
            <a:r>
              <a:rPr sz="2200" b="1">
                <a:solidFill>
                  <a:srgbClr val="2C3E50"/>
                </a:solidFill>
                <a:latin typeface="Calibri"/>
              </a:rPr>
              <a:t>its wealthy peers?</a:t>
            </a:r>
          </a:p>
        </p:txBody>
      </p:sp>
      <p:sp>
        <p:nvSpPr>
          <p:cNvPr id="11" name="TextBox 10"/>
          <p:cNvSpPr txBox="1"/>
          <p:nvPr/>
        </p:nvSpPr>
        <p:spPr>
          <a:xfrm>
            <a:off x="914400" y="4297680"/>
            <a:ext cx="10058400" cy="365760"/>
          </a:xfrm>
          <a:prstGeom prst="rect">
            <a:avLst/>
          </a:prstGeom>
          <a:noFill/>
        </p:spPr>
        <p:txBody>
          <a:bodyPr wrap="square" lIns="0" rIns="0" tIns="0" bIns="0" anchor="t">
            <a:spAutoFit/>
          </a:bodyPr>
          <a:lstStyle/>
          <a:p>
            <a:pPr algn="l"/>
            <a:r>
              <a:rPr sz="1400" b="1">
                <a:solidFill>
                  <a:srgbClr val="C0392B"/>
                </a:solidFill>
                <a:latin typeface="Calibri"/>
              </a:rPr>
              <a:t>Two acts</a:t>
            </a:r>
          </a:p>
        </p:txBody>
      </p:sp>
      <p:sp>
        <p:nvSpPr>
          <p:cNvPr id="12" name="Rectangle 11"/>
          <p:cNvSpPr/>
          <p:nvPr/>
        </p:nvSpPr>
        <p:spPr>
          <a:xfrm>
            <a:off x="914400" y="4754880"/>
            <a:ext cx="5120640" cy="146304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937760"/>
            <a:ext cx="4572000" cy="365760"/>
          </a:xfrm>
          <a:prstGeom prst="rect">
            <a:avLst/>
          </a:prstGeom>
          <a:noFill/>
        </p:spPr>
        <p:txBody>
          <a:bodyPr wrap="square" lIns="0" rIns="0" tIns="0" bIns="0" anchor="t">
            <a:spAutoFit/>
          </a:bodyPr>
          <a:lstStyle/>
          <a:p>
            <a:pPr algn="l"/>
            <a:r>
              <a:rPr sz="1600" b="1">
                <a:solidFill>
                  <a:srgbClr val="2C3E50"/>
                </a:solidFill>
                <a:latin typeface="Calibri"/>
              </a:rPr>
              <a:t>Part I — The American Problem</a:t>
            </a:r>
          </a:p>
        </p:txBody>
      </p:sp>
      <p:sp>
        <p:nvSpPr>
          <p:cNvPr id="14" name="TextBox 13"/>
          <p:cNvSpPr txBox="1"/>
          <p:nvPr/>
        </p:nvSpPr>
        <p:spPr>
          <a:xfrm>
            <a:off x="1188720" y="5349240"/>
            <a:ext cx="4754880" cy="822960"/>
          </a:xfrm>
          <a:prstGeom prst="rect">
            <a:avLst/>
          </a:prstGeom>
          <a:noFill/>
        </p:spPr>
        <p:txBody>
          <a:bodyPr wrap="square" lIns="0" rIns="0" tIns="0" bIns="0" anchor="t">
            <a:spAutoFit/>
          </a:bodyPr>
          <a:lstStyle/>
          <a:p>
            <a:pPr algn="l"/>
            <a:r>
              <a:rPr sz="1400" b="0">
                <a:solidFill>
                  <a:srgbClr val="7B8A8B"/>
                </a:solidFill>
                <a:latin typeface="Calibri"/>
              </a:rPr>
              <a:t>Within the U.S., mobility is sharply geographic.</a:t>
            </a:r>
          </a:p>
        </p:txBody>
      </p:sp>
      <p:sp>
        <p:nvSpPr>
          <p:cNvPr id="15" name="Rectangle 14"/>
          <p:cNvSpPr/>
          <p:nvPr/>
        </p:nvSpPr>
        <p:spPr>
          <a:xfrm>
            <a:off x="6263640" y="4754880"/>
            <a:ext cx="5120640" cy="146304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937760"/>
            <a:ext cx="4754880" cy="365760"/>
          </a:xfrm>
          <a:prstGeom prst="rect">
            <a:avLst/>
          </a:prstGeom>
          <a:noFill/>
        </p:spPr>
        <p:txBody>
          <a:bodyPr wrap="square" lIns="0" rIns="0" tIns="0" bIns="0" anchor="t">
            <a:spAutoFit/>
          </a:bodyPr>
          <a:lstStyle/>
          <a:p>
            <a:pPr algn="l"/>
            <a:r>
              <a:rPr sz="1600" b="1">
                <a:solidFill>
                  <a:srgbClr val="2C3E50"/>
                </a:solidFill>
                <a:latin typeface="Calibri"/>
              </a:rPr>
              <a:t>Part II — The Global Perspective</a:t>
            </a:r>
          </a:p>
        </p:txBody>
      </p:sp>
      <p:sp>
        <p:nvSpPr>
          <p:cNvPr id="17" name="TextBox 16"/>
          <p:cNvSpPr txBox="1"/>
          <p:nvPr/>
        </p:nvSpPr>
        <p:spPr>
          <a:xfrm>
            <a:off x="6537960" y="5349240"/>
            <a:ext cx="4754880" cy="822960"/>
          </a:xfrm>
          <a:prstGeom prst="rect">
            <a:avLst/>
          </a:prstGeom>
          <a:noFill/>
        </p:spPr>
        <p:txBody>
          <a:bodyPr wrap="square" lIns="0" rIns="0" tIns="0" bIns="0" anchor="t">
            <a:spAutoFit/>
          </a:bodyPr>
          <a:lstStyle/>
          <a:p>
            <a:pPr algn="l"/>
            <a:r>
              <a:rPr sz="1400" b="0">
                <a:solidFill>
                  <a:srgbClr val="7B8A8B"/>
                </a:solidFill>
                <a:latin typeface="Calibri"/>
              </a:rPr>
              <a:t>The U.S. as a whole sits below most of its wealthy peers.</a:t>
            </a:r>
          </a:p>
        </p:txBody>
      </p:sp>
      <p:sp>
        <p:nvSpPr>
          <p:cNvPr id="18" name="Rectangle 17"/>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20" name="TextBox 19"/>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ALL PUBLIC, ALL STATIC</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Data Sources</a:t>
            </a:r>
          </a:p>
        </p:txBody>
      </p:sp>
      <p:sp>
        <p:nvSpPr>
          <p:cNvPr id="6" name="Rectangle 5"/>
          <p:cNvSpPr/>
          <p:nvPr/>
        </p:nvSpPr>
        <p:spPr>
          <a:xfrm>
            <a:off x="548640" y="1828800"/>
            <a:ext cx="11064240" cy="4572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38528"/>
            <a:ext cx="3017520" cy="274320"/>
          </a:xfrm>
          <a:prstGeom prst="rect">
            <a:avLst/>
          </a:prstGeom>
          <a:noFill/>
        </p:spPr>
        <p:txBody>
          <a:bodyPr wrap="square" lIns="0" rIns="0" tIns="0" bIns="0" anchor="t">
            <a:spAutoFit/>
          </a:bodyPr>
          <a:lstStyle/>
          <a:p>
            <a:pPr algn="l"/>
            <a:r>
              <a:rPr sz="1200" b="1">
                <a:solidFill>
                  <a:srgbClr val="FFFFFF"/>
                </a:solidFill>
                <a:latin typeface="Calibri"/>
              </a:rPr>
              <a:t>DATASET</a:t>
            </a:r>
          </a:p>
        </p:txBody>
      </p:sp>
      <p:sp>
        <p:nvSpPr>
          <p:cNvPr id="8" name="TextBox 7"/>
          <p:cNvSpPr txBox="1"/>
          <p:nvPr/>
        </p:nvSpPr>
        <p:spPr>
          <a:xfrm>
            <a:off x="4114800" y="1938528"/>
            <a:ext cx="2560320" cy="274320"/>
          </a:xfrm>
          <a:prstGeom prst="rect">
            <a:avLst/>
          </a:prstGeom>
          <a:noFill/>
        </p:spPr>
        <p:txBody>
          <a:bodyPr wrap="square" lIns="0" rIns="0" tIns="0" bIns="0" anchor="t">
            <a:spAutoFit/>
          </a:bodyPr>
          <a:lstStyle/>
          <a:p>
            <a:pPr algn="l"/>
            <a:r>
              <a:rPr sz="1200" b="1">
                <a:solidFill>
                  <a:srgbClr val="FFFFFF"/>
                </a:solidFill>
                <a:latin typeface="Calibri"/>
              </a:rPr>
              <a:t>ATTRIBUTION</a:t>
            </a:r>
          </a:p>
        </p:txBody>
      </p:sp>
      <p:sp>
        <p:nvSpPr>
          <p:cNvPr id="9" name="TextBox 8"/>
          <p:cNvSpPr txBox="1"/>
          <p:nvPr/>
        </p:nvSpPr>
        <p:spPr>
          <a:xfrm>
            <a:off x="6858000" y="1938528"/>
            <a:ext cx="4572000" cy="274320"/>
          </a:xfrm>
          <a:prstGeom prst="rect">
            <a:avLst/>
          </a:prstGeom>
          <a:noFill/>
        </p:spPr>
        <p:txBody>
          <a:bodyPr wrap="square" lIns="0" rIns="0" tIns="0" bIns="0" anchor="t">
            <a:spAutoFit/>
          </a:bodyPr>
          <a:lstStyle/>
          <a:p>
            <a:pPr algn="l"/>
            <a:r>
              <a:rPr sz="1200" b="1">
                <a:solidFill>
                  <a:srgbClr val="FFFFFF"/>
                </a:solidFill>
                <a:latin typeface="Calibri"/>
              </a:rPr>
              <a:t>USE</a:t>
            </a:r>
          </a:p>
        </p:txBody>
      </p:sp>
      <p:sp>
        <p:nvSpPr>
          <p:cNvPr id="10" name="Rectangle 9"/>
          <p:cNvSpPr/>
          <p:nvPr/>
        </p:nvSpPr>
        <p:spPr>
          <a:xfrm>
            <a:off x="548640" y="2286000"/>
            <a:ext cx="11064240" cy="77724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487168"/>
            <a:ext cx="3200400" cy="365760"/>
          </a:xfrm>
          <a:prstGeom prst="rect">
            <a:avLst/>
          </a:prstGeom>
          <a:noFill/>
        </p:spPr>
        <p:txBody>
          <a:bodyPr wrap="square" lIns="0" rIns="0" tIns="0" bIns="0" anchor="t">
            <a:spAutoFit/>
          </a:bodyPr>
          <a:lstStyle/>
          <a:p>
            <a:pPr algn="l"/>
            <a:r>
              <a:rPr sz="1400" b="1">
                <a:solidFill>
                  <a:srgbClr val="2C3E50"/>
                </a:solidFill>
                <a:latin typeface="Calibri"/>
              </a:rPr>
              <a:t>Opportunity Atlas</a:t>
            </a:r>
          </a:p>
        </p:txBody>
      </p:sp>
      <p:sp>
        <p:nvSpPr>
          <p:cNvPr id="12" name="TextBox 11"/>
          <p:cNvSpPr txBox="1"/>
          <p:nvPr/>
        </p:nvSpPr>
        <p:spPr>
          <a:xfrm>
            <a:off x="4114800" y="2487168"/>
            <a:ext cx="2560320" cy="365760"/>
          </a:xfrm>
          <a:prstGeom prst="rect">
            <a:avLst/>
          </a:prstGeom>
          <a:noFill/>
        </p:spPr>
        <p:txBody>
          <a:bodyPr wrap="square" lIns="0" rIns="0" tIns="0" bIns="0" anchor="t">
            <a:spAutoFit/>
          </a:bodyPr>
          <a:lstStyle/>
          <a:p>
            <a:pPr algn="l"/>
            <a:r>
              <a:rPr sz="1200" b="0">
                <a:solidFill>
                  <a:srgbClr val="7B8A8B"/>
                </a:solidFill>
                <a:latin typeface="Calibri"/>
              </a:rPr>
              <a:t>Chetty et al.</a:t>
            </a:r>
          </a:p>
        </p:txBody>
      </p:sp>
      <p:sp>
        <p:nvSpPr>
          <p:cNvPr id="13" name="TextBox 12"/>
          <p:cNvSpPr txBox="1"/>
          <p:nvPr/>
        </p:nvSpPr>
        <p:spPr>
          <a:xfrm>
            <a:off x="6858000" y="2487168"/>
            <a:ext cx="4572000" cy="365760"/>
          </a:xfrm>
          <a:prstGeom prst="rect">
            <a:avLst/>
          </a:prstGeom>
          <a:noFill/>
        </p:spPr>
        <p:txBody>
          <a:bodyPr wrap="square" lIns="0" rIns="0" tIns="0" bIns="0" anchor="t">
            <a:spAutoFit/>
          </a:bodyPr>
          <a:lstStyle/>
          <a:p>
            <a:pPr algn="l"/>
            <a:r>
              <a:rPr sz="1200" b="0">
                <a:solidFill>
                  <a:srgbClr val="1A232E"/>
                </a:solidFill>
                <a:latin typeface="Calibri"/>
              </a:rPr>
              <a:t>County-level adult outcomes by parent income</a:t>
            </a:r>
          </a:p>
        </p:txBody>
      </p:sp>
      <p:sp>
        <p:nvSpPr>
          <p:cNvPr id="14" name="Rectangle 13"/>
          <p:cNvSpPr/>
          <p:nvPr/>
        </p:nvSpPr>
        <p:spPr>
          <a:xfrm>
            <a:off x="548640" y="3063240"/>
            <a:ext cx="11064240" cy="777240"/>
          </a:xfrm>
          <a:prstGeom prst="rect">
            <a:avLst/>
          </a:prstGeom>
          <a:solidFill>
            <a:srgbClr val="F4F7FB"/>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64408"/>
            <a:ext cx="3200400" cy="365760"/>
          </a:xfrm>
          <a:prstGeom prst="rect">
            <a:avLst/>
          </a:prstGeom>
          <a:noFill/>
        </p:spPr>
        <p:txBody>
          <a:bodyPr wrap="square" lIns="0" rIns="0" tIns="0" bIns="0" anchor="t">
            <a:spAutoFit/>
          </a:bodyPr>
          <a:lstStyle/>
          <a:p>
            <a:pPr algn="l"/>
            <a:r>
              <a:rPr sz="1400" b="1">
                <a:solidFill>
                  <a:srgbClr val="2C3E50"/>
                </a:solidFill>
                <a:latin typeface="Calibri"/>
              </a:rPr>
              <a:t>GDIM 2023</a:t>
            </a:r>
          </a:p>
        </p:txBody>
      </p:sp>
      <p:sp>
        <p:nvSpPr>
          <p:cNvPr id="16" name="TextBox 15"/>
          <p:cNvSpPr txBox="1"/>
          <p:nvPr/>
        </p:nvSpPr>
        <p:spPr>
          <a:xfrm>
            <a:off x="4114800" y="3264408"/>
            <a:ext cx="2560320" cy="365760"/>
          </a:xfrm>
          <a:prstGeom prst="rect">
            <a:avLst/>
          </a:prstGeom>
          <a:noFill/>
        </p:spPr>
        <p:txBody>
          <a:bodyPr wrap="square" lIns="0" rIns="0" tIns="0" bIns="0" anchor="t">
            <a:spAutoFit/>
          </a:bodyPr>
          <a:lstStyle/>
          <a:p>
            <a:pPr algn="l"/>
            <a:r>
              <a:rPr sz="1200" b="0">
                <a:solidFill>
                  <a:srgbClr val="7B8A8B"/>
                </a:solidFill>
                <a:latin typeface="Calibri"/>
              </a:rPr>
              <a:t>World Bank</a:t>
            </a:r>
          </a:p>
        </p:txBody>
      </p:sp>
      <p:sp>
        <p:nvSpPr>
          <p:cNvPr id="17" name="TextBox 16"/>
          <p:cNvSpPr txBox="1"/>
          <p:nvPr/>
        </p:nvSpPr>
        <p:spPr>
          <a:xfrm>
            <a:off x="6858000" y="3264408"/>
            <a:ext cx="4572000" cy="365760"/>
          </a:xfrm>
          <a:prstGeom prst="rect">
            <a:avLst/>
          </a:prstGeom>
          <a:noFill/>
        </p:spPr>
        <p:txBody>
          <a:bodyPr wrap="square" lIns="0" rIns="0" tIns="0" bIns="0" anchor="t">
            <a:spAutoFit/>
          </a:bodyPr>
          <a:lstStyle/>
          <a:p>
            <a:pPr algn="l"/>
            <a:r>
              <a:rPr sz="1200" b="0">
                <a:solidFill>
                  <a:srgbClr val="1A232E"/>
                </a:solidFill>
                <a:latin typeface="Calibri"/>
              </a:rPr>
              <a:t>Intergenerational immobility (IGE) by country</a:t>
            </a:r>
          </a:p>
        </p:txBody>
      </p:sp>
      <p:sp>
        <p:nvSpPr>
          <p:cNvPr id="18" name="Rectangle 17"/>
          <p:cNvSpPr/>
          <p:nvPr/>
        </p:nvSpPr>
        <p:spPr>
          <a:xfrm>
            <a:off x="548640" y="3840480"/>
            <a:ext cx="11064240" cy="77724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41648"/>
            <a:ext cx="3200400" cy="365760"/>
          </a:xfrm>
          <a:prstGeom prst="rect">
            <a:avLst/>
          </a:prstGeom>
          <a:noFill/>
        </p:spPr>
        <p:txBody>
          <a:bodyPr wrap="square" lIns="0" rIns="0" tIns="0" bIns="0" anchor="t">
            <a:spAutoFit/>
          </a:bodyPr>
          <a:lstStyle/>
          <a:p>
            <a:pPr algn="l"/>
            <a:r>
              <a:rPr sz="1400" b="1">
                <a:solidFill>
                  <a:srgbClr val="2C3E50"/>
                </a:solidFill>
                <a:latin typeface="Calibri"/>
              </a:rPr>
              <a:t>SWIID v9.6</a:t>
            </a:r>
          </a:p>
        </p:txBody>
      </p:sp>
      <p:sp>
        <p:nvSpPr>
          <p:cNvPr id="20" name="TextBox 19"/>
          <p:cNvSpPr txBox="1"/>
          <p:nvPr/>
        </p:nvSpPr>
        <p:spPr>
          <a:xfrm>
            <a:off x="4114800" y="4041648"/>
            <a:ext cx="2560320" cy="365760"/>
          </a:xfrm>
          <a:prstGeom prst="rect">
            <a:avLst/>
          </a:prstGeom>
          <a:noFill/>
        </p:spPr>
        <p:txBody>
          <a:bodyPr wrap="square" lIns="0" rIns="0" tIns="0" bIns="0" anchor="t">
            <a:spAutoFit/>
          </a:bodyPr>
          <a:lstStyle/>
          <a:p>
            <a:pPr algn="l"/>
            <a:r>
              <a:rPr sz="1200" b="0">
                <a:solidFill>
                  <a:srgbClr val="7B8A8B"/>
                </a:solidFill>
                <a:latin typeface="Calibri"/>
              </a:rPr>
              <a:t>Frederick Solt</a:t>
            </a:r>
          </a:p>
        </p:txBody>
      </p:sp>
      <p:sp>
        <p:nvSpPr>
          <p:cNvPr id="21" name="TextBox 20"/>
          <p:cNvSpPr txBox="1"/>
          <p:nvPr/>
        </p:nvSpPr>
        <p:spPr>
          <a:xfrm>
            <a:off x="6858000" y="4041648"/>
            <a:ext cx="4572000" cy="365760"/>
          </a:xfrm>
          <a:prstGeom prst="rect">
            <a:avLst/>
          </a:prstGeom>
          <a:noFill/>
        </p:spPr>
        <p:txBody>
          <a:bodyPr wrap="square" lIns="0" rIns="0" tIns="0" bIns="0" anchor="t">
            <a:spAutoFit/>
          </a:bodyPr>
          <a:lstStyle/>
          <a:p>
            <a:pPr algn="l"/>
            <a:r>
              <a:rPr sz="1200" b="0">
                <a:solidFill>
                  <a:srgbClr val="1A232E"/>
                </a:solidFill>
                <a:latin typeface="Calibri"/>
              </a:rPr>
              <a:t>Pre-/post-tax inequality (Gini)</a:t>
            </a:r>
          </a:p>
        </p:txBody>
      </p:sp>
      <p:sp>
        <p:nvSpPr>
          <p:cNvPr id="22" name="Rectangle 21"/>
          <p:cNvSpPr/>
          <p:nvPr/>
        </p:nvSpPr>
        <p:spPr>
          <a:xfrm>
            <a:off x="548640" y="4617720"/>
            <a:ext cx="11064240" cy="777240"/>
          </a:xfrm>
          <a:prstGeom prst="rect">
            <a:avLst/>
          </a:prstGeom>
          <a:solidFill>
            <a:srgbClr val="F4F7FB"/>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818888"/>
            <a:ext cx="3200400" cy="365760"/>
          </a:xfrm>
          <a:prstGeom prst="rect">
            <a:avLst/>
          </a:prstGeom>
          <a:noFill/>
        </p:spPr>
        <p:txBody>
          <a:bodyPr wrap="square" lIns="0" rIns="0" tIns="0" bIns="0" anchor="t">
            <a:spAutoFit/>
          </a:bodyPr>
          <a:lstStyle/>
          <a:p>
            <a:pPr algn="l"/>
            <a:r>
              <a:rPr sz="1400" b="1">
                <a:solidFill>
                  <a:srgbClr val="2C3E50"/>
                </a:solidFill>
                <a:latin typeface="Calibri"/>
              </a:rPr>
              <a:t>OECD Education at a Glance</a:t>
            </a:r>
          </a:p>
        </p:txBody>
      </p:sp>
      <p:sp>
        <p:nvSpPr>
          <p:cNvPr id="24" name="TextBox 23"/>
          <p:cNvSpPr txBox="1"/>
          <p:nvPr/>
        </p:nvSpPr>
        <p:spPr>
          <a:xfrm>
            <a:off x="4114800" y="4818888"/>
            <a:ext cx="2560320" cy="365760"/>
          </a:xfrm>
          <a:prstGeom prst="rect">
            <a:avLst/>
          </a:prstGeom>
          <a:noFill/>
        </p:spPr>
        <p:txBody>
          <a:bodyPr wrap="square" lIns="0" rIns="0" tIns="0" bIns="0" anchor="t">
            <a:spAutoFit/>
          </a:bodyPr>
          <a:lstStyle/>
          <a:p>
            <a:pPr algn="l"/>
            <a:r>
              <a:rPr sz="1200" b="0">
                <a:solidFill>
                  <a:srgbClr val="7B8A8B"/>
                </a:solidFill>
                <a:latin typeface="Calibri"/>
              </a:rPr>
              <a:t>OECD</a:t>
            </a:r>
          </a:p>
        </p:txBody>
      </p:sp>
      <p:sp>
        <p:nvSpPr>
          <p:cNvPr id="25" name="TextBox 24"/>
          <p:cNvSpPr txBox="1"/>
          <p:nvPr/>
        </p:nvSpPr>
        <p:spPr>
          <a:xfrm>
            <a:off x="6858000" y="4818888"/>
            <a:ext cx="4572000" cy="365760"/>
          </a:xfrm>
          <a:prstGeom prst="rect">
            <a:avLst/>
          </a:prstGeom>
          <a:noFill/>
        </p:spPr>
        <p:txBody>
          <a:bodyPr wrap="square" lIns="0" rIns="0" tIns="0" bIns="0" anchor="t">
            <a:spAutoFit/>
          </a:bodyPr>
          <a:lstStyle/>
          <a:p>
            <a:pPr algn="l"/>
            <a:r>
              <a:rPr sz="1200" b="0">
                <a:solidFill>
                  <a:srgbClr val="1A232E"/>
                </a:solidFill>
                <a:latin typeface="Calibri"/>
              </a:rPr>
              <a:t>School funding centralization</a:t>
            </a:r>
          </a:p>
        </p:txBody>
      </p:sp>
      <p:sp>
        <p:nvSpPr>
          <p:cNvPr id="26" name="Rectangle 25"/>
          <p:cNvSpPr/>
          <p:nvPr/>
        </p:nvSpPr>
        <p:spPr>
          <a:xfrm>
            <a:off x="548640" y="5394960"/>
            <a:ext cx="11064240" cy="77724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596128"/>
            <a:ext cx="3200400" cy="365760"/>
          </a:xfrm>
          <a:prstGeom prst="rect">
            <a:avLst/>
          </a:prstGeom>
          <a:noFill/>
        </p:spPr>
        <p:txBody>
          <a:bodyPr wrap="square" lIns="0" rIns="0" tIns="0" bIns="0" anchor="t">
            <a:spAutoFit/>
          </a:bodyPr>
          <a:lstStyle/>
          <a:p>
            <a:pPr algn="l"/>
            <a:r>
              <a:rPr sz="1400" b="1">
                <a:solidFill>
                  <a:srgbClr val="2C3E50"/>
                </a:solidFill>
                <a:latin typeface="Calibri"/>
              </a:rPr>
              <a:t>US Census TopoJSON Atlas</a:t>
            </a:r>
          </a:p>
        </p:txBody>
      </p:sp>
      <p:sp>
        <p:nvSpPr>
          <p:cNvPr id="28" name="TextBox 27"/>
          <p:cNvSpPr txBox="1"/>
          <p:nvPr/>
        </p:nvSpPr>
        <p:spPr>
          <a:xfrm>
            <a:off x="4114800" y="5596128"/>
            <a:ext cx="2560320" cy="365760"/>
          </a:xfrm>
          <a:prstGeom prst="rect">
            <a:avLst/>
          </a:prstGeom>
          <a:noFill/>
        </p:spPr>
        <p:txBody>
          <a:bodyPr wrap="square" lIns="0" rIns="0" tIns="0" bIns="0" anchor="t">
            <a:spAutoFit/>
          </a:bodyPr>
          <a:lstStyle/>
          <a:p>
            <a:pPr algn="l"/>
            <a:r>
              <a:rPr sz="1200" b="0">
                <a:solidFill>
                  <a:srgbClr val="7B8A8B"/>
                </a:solidFill>
                <a:latin typeface="Calibri"/>
              </a:rPr>
              <a:t>Mike Bostock</a:t>
            </a:r>
          </a:p>
        </p:txBody>
      </p:sp>
      <p:sp>
        <p:nvSpPr>
          <p:cNvPr id="29" name="TextBox 28"/>
          <p:cNvSpPr txBox="1"/>
          <p:nvPr/>
        </p:nvSpPr>
        <p:spPr>
          <a:xfrm>
            <a:off x="6858000" y="5596128"/>
            <a:ext cx="4572000" cy="365760"/>
          </a:xfrm>
          <a:prstGeom prst="rect">
            <a:avLst/>
          </a:prstGeom>
          <a:noFill/>
        </p:spPr>
        <p:txBody>
          <a:bodyPr wrap="square" lIns="0" rIns="0" tIns="0" bIns="0" anchor="t">
            <a:spAutoFit/>
          </a:bodyPr>
          <a:lstStyle/>
          <a:p>
            <a:pPr algn="l"/>
            <a:r>
              <a:rPr sz="1200" b="0">
                <a:solidFill>
                  <a:srgbClr val="1A232E"/>
                </a:solidFill>
                <a:latin typeface="Calibri"/>
              </a:rPr>
              <a:t>County + state boundaries (10M vertices)</a:t>
            </a:r>
          </a:p>
        </p:txBody>
      </p:sp>
      <p:sp>
        <p:nvSpPr>
          <p:cNvPr id="30" name="Rectangle 29"/>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32" name="TextBox 31"/>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STATIC SITE, NO BACKEND</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Tech Stack</a:t>
            </a:r>
          </a:p>
        </p:txBody>
      </p:sp>
      <p:sp>
        <p:nvSpPr>
          <p:cNvPr id="6" name="Rectangle 5"/>
          <p:cNvSpPr/>
          <p:nvPr/>
        </p:nvSpPr>
        <p:spPr>
          <a:xfrm>
            <a:off x="548640" y="1828800"/>
            <a:ext cx="3611880" cy="31089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361188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3611880" cy="365760"/>
          </a:xfrm>
          <a:prstGeom prst="rect">
            <a:avLst/>
          </a:prstGeom>
          <a:noFill/>
        </p:spPr>
        <p:txBody>
          <a:bodyPr wrap="square" lIns="0" rIns="0" tIns="0" bIns="0" anchor="t">
            <a:spAutoFit/>
          </a:bodyPr>
          <a:lstStyle/>
          <a:p>
            <a:pPr algn="l"/>
            <a:r>
              <a:rPr sz="1600" b="1">
                <a:solidFill>
                  <a:srgbClr val="2C3E50"/>
                </a:solidFill>
                <a:latin typeface="Calibri"/>
              </a:rPr>
              <a:t>Framework</a:t>
            </a:r>
          </a:p>
        </p:txBody>
      </p:sp>
      <p:sp>
        <p:nvSpPr>
          <p:cNvPr id="9" name="TextBox 8"/>
          <p:cNvSpPr txBox="1"/>
          <p:nvPr/>
        </p:nvSpPr>
        <p:spPr>
          <a:xfrm>
            <a:off x="822960" y="2606040"/>
            <a:ext cx="3246120" cy="2194560"/>
          </a:xfrm>
          <a:prstGeom prst="rect">
            <a:avLst/>
          </a:prstGeom>
          <a:noFill/>
        </p:spPr>
        <p:txBody>
          <a:bodyPr wrap="square" lIns="0" rIns="0">
            <a:spAutoFit/>
          </a:bodyPr>
          <a:lstStyle/>
          <a:p>
            <a:pPr algn="l">
              <a:lnSpc>
                <a:spcPct val="125000"/>
              </a:lnSpc>
            </a:pPr>
            <a:r>
              <a:rPr sz="1300">
                <a:solidFill>
                  <a:srgbClr val="7B8A8B"/>
                </a:solidFill>
                <a:latin typeface="Calibri"/>
              </a:rPr>
              <a:t>•  </a:t>
            </a:r>
            <a:r>
              <a:rPr sz="1300" b="0">
                <a:solidFill>
                  <a:srgbClr val="1A232E"/>
                </a:solidFill>
                <a:latin typeface="Calibri"/>
              </a:rPr>
              <a:t>SvelteKit</a:t>
            </a:r>
          </a:p>
          <a:p>
            <a:pPr algn="l">
              <a:lnSpc>
                <a:spcPct val="125000"/>
              </a:lnSpc>
            </a:pPr>
            <a:r>
              <a:rPr sz="1300">
                <a:solidFill>
                  <a:srgbClr val="7B8A8B"/>
                </a:solidFill>
                <a:latin typeface="Calibri"/>
              </a:rPr>
              <a:t>•  </a:t>
            </a:r>
            <a:r>
              <a:rPr sz="1300" b="0">
                <a:solidFill>
                  <a:srgbClr val="1A232E"/>
                </a:solidFill>
                <a:latin typeface="Calibri"/>
              </a:rPr>
              <a:t>Svelte 5 runes ($state, $bindable, $props, $effect)</a:t>
            </a:r>
          </a:p>
        </p:txBody>
      </p:sp>
      <p:sp>
        <p:nvSpPr>
          <p:cNvPr id="10" name="Rectangle 9"/>
          <p:cNvSpPr/>
          <p:nvPr/>
        </p:nvSpPr>
        <p:spPr>
          <a:xfrm>
            <a:off x="4343400" y="1828800"/>
            <a:ext cx="3611880" cy="31089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28800"/>
            <a:ext cx="361188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03120"/>
            <a:ext cx="3611880" cy="365760"/>
          </a:xfrm>
          <a:prstGeom prst="rect">
            <a:avLst/>
          </a:prstGeom>
          <a:noFill/>
        </p:spPr>
        <p:txBody>
          <a:bodyPr wrap="square" lIns="0" rIns="0" tIns="0" bIns="0" anchor="t">
            <a:spAutoFit/>
          </a:bodyPr>
          <a:lstStyle/>
          <a:p>
            <a:pPr algn="l"/>
            <a:r>
              <a:rPr sz="1600" b="1">
                <a:solidFill>
                  <a:srgbClr val="2C3E50"/>
                </a:solidFill>
                <a:latin typeface="Calibri"/>
              </a:rPr>
              <a:t>Visualization</a:t>
            </a:r>
          </a:p>
        </p:txBody>
      </p:sp>
      <p:sp>
        <p:nvSpPr>
          <p:cNvPr id="13" name="TextBox 12"/>
          <p:cNvSpPr txBox="1"/>
          <p:nvPr/>
        </p:nvSpPr>
        <p:spPr>
          <a:xfrm>
            <a:off x="4617720" y="2606040"/>
            <a:ext cx="3246120" cy="2194560"/>
          </a:xfrm>
          <a:prstGeom prst="rect">
            <a:avLst/>
          </a:prstGeom>
          <a:noFill/>
        </p:spPr>
        <p:txBody>
          <a:bodyPr wrap="square" lIns="0" rIns="0">
            <a:spAutoFit/>
          </a:bodyPr>
          <a:lstStyle/>
          <a:p>
            <a:pPr algn="l">
              <a:lnSpc>
                <a:spcPct val="125000"/>
              </a:lnSpc>
            </a:pPr>
            <a:r>
              <a:rPr sz="1300">
                <a:solidFill>
                  <a:srgbClr val="7B8A8B"/>
                </a:solidFill>
                <a:latin typeface="Calibri"/>
              </a:rPr>
              <a:t>•  </a:t>
            </a:r>
            <a:r>
              <a:rPr sz="1300" b="0">
                <a:solidFill>
                  <a:srgbClr val="1A232E"/>
                </a:solidFill>
                <a:latin typeface="Calibri"/>
              </a:rPr>
              <a:t>D3 v7 (scales, axes, projections)</a:t>
            </a:r>
          </a:p>
          <a:p>
            <a:pPr algn="l">
              <a:lnSpc>
                <a:spcPct val="125000"/>
              </a:lnSpc>
            </a:pPr>
            <a:r>
              <a:rPr sz="1300">
                <a:solidFill>
                  <a:srgbClr val="7B8A8B"/>
                </a:solidFill>
                <a:latin typeface="Calibri"/>
              </a:rPr>
              <a:t>•  </a:t>
            </a:r>
            <a:r>
              <a:rPr sz="1300" b="0">
                <a:solidFill>
                  <a:srgbClr val="1A232E"/>
                </a:solidFill>
                <a:latin typeface="Calibri"/>
              </a:rPr>
              <a:t>topojson-client</a:t>
            </a:r>
          </a:p>
          <a:p>
            <a:pPr algn="l">
              <a:lnSpc>
                <a:spcPct val="125000"/>
              </a:lnSpc>
            </a:pPr>
            <a:r>
              <a:rPr sz="1300">
                <a:solidFill>
                  <a:srgbClr val="7B8A8B"/>
                </a:solidFill>
                <a:latin typeface="Calibri"/>
              </a:rPr>
              <a:t>•  </a:t>
            </a:r>
            <a:r>
              <a:rPr sz="1300" b="0">
                <a:solidFill>
                  <a:srgbClr val="1A232E"/>
                </a:solidFill>
                <a:latin typeface="Calibri"/>
              </a:rPr>
              <a:t>deck.gl (3D bonus)</a:t>
            </a:r>
          </a:p>
        </p:txBody>
      </p:sp>
      <p:sp>
        <p:nvSpPr>
          <p:cNvPr id="14" name="Rectangle 13"/>
          <p:cNvSpPr/>
          <p:nvPr/>
        </p:nvSpPr>
        <p:spPr>
          <a:xfrm>
            <a:off x="8138160" y="1828800"/>
            <a:ext cx="3611880" cy="31089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828800"/>
            <a:ext cx="361188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103120"/>
            <a:ext cx="3611880" cy="365760"/>
          </a:xfrm>
          <a:prstGeom prst="rect">
            <a:avLst/>
          </a:prstGeom>
          <a:noFill/>
        </p:spPr>
        <p:txBody>
          <a:bodyPr wrap="square" lIns="0" rIns="0" tIns="0" bIns="0" anchor="t">
            <a:spAutoFit/>
          </a:bodyPr>
          <a:lstStyle/>
          <a:p>
            <a:pPr algn="l"/>
            <a:r>
              <a:rPr sz="1600" b="1">
                <a:solidFill>
                  <a:srgbClr val="2C3E50"/>
                </a:solidFill>
                <a:latin typeface="Calibri"/>
              </a:rPr>
              <a:t>Build &amp; Deploy</a:t>
            </a:r>
          </a:p>
        </p:txBody>
      </p:sp>
      <p:sp>
        <p:nvSpPr>
          <p:cNvPr id="17" name="TextBox 16"/>
          <p:cNvSpPr txBox="1"/>
          <p:nvPr/>
        </p:nvSpPr>
        <p:spPr>
          <a:xfrm>
            <a:off x="8412480" y="2606040"/>
            <a:ext cx="3246120" cy="2194560"/>
          </a:xfrm>
          <a:prstGeom prst="rect">
            <a:avLst/>
          </a:prstGeom>
          <a:noFill/>
        </p:spPr>
        <p:txBody>
          <a:bodyPr wrap="square" lIns="0" rIns="0">
            <a:spAutoFit/>
          </a:bodyPr>
          <a:lstStyle/>
          <a:p>
            <a:pPr algn="l">
              <a:lnSpc>
                <a:spcPct val="125000"/>
              </a:lnSpc>
            </a:pPr>
            <a:r>
              <a:rPr sz="1300">
                <a:solidFill>
                  <a:srgbClr val="7B8A8B"/>
                </a:solidFill>
                <a:latin typeface="Calibri"/>
              </a:rPr>
              <a:t>•  </a:t>
            </a:r>
            <a:r>
              <a:rPr sz="1300" b="0">
                <a:solidFill>
                  <a:srgbClr val="1A232E"/>
                </a:solidFill>
                <a:latin typeface="Calibri"/>
              </a:rPr>
              <a:t>Vite dev server</a:t>
            </a:r>
          </a:p>
          <a:p>
            <a:pPr algn="l">
              <a:lnSpc>
                <a:spcPct val="125000"/>
              </a:lnSpc>
            </a:pPr>
            <a:r>
              <a:rPr sz="1300">
                <a:solidFill>
                  <a:srgbClr val="7B8A8B"/>
                </a:solidFill>
                <a:latin typeface="Calibri"/>
              </a:rPr>
              <a:t>•  </a:t>
            </a:r>
            <a:r>
              <a:rPr sz="1300" b="0">
                <a:solidFill>
                  <a:srgbClr val="1A232E"/>
                </a:solidFill>
                <a:latin typeface="Calibri"/>
              </a:rPr>
              <a:t>GitHub Actions → GitHub Pages</a:t>
            </a:r>
          </a:p>
        </p:txBody>
      </p:sp>
      <p:sp>
        <p:nvSpPr>
          <p:cNvPr id="18" name="TextBox 17"/>
          <p:cNvSpPr txBox="1"/>
          <p:nvPr/>
        </p:nvSpPr>
        <p:spPr>
          <a:xfrm>
            <a:off x="548640" y="5212080"/>
            <a:ext cx="10972800" cy="457200"/>
          </a:xfrm>
          <a:prstGeom prst="rect">
            <a:avLst/>
          </a:prstGeom>
          <a:noFill/>
        </p:spPr>
        <p:txBody>
          <a:bodyPr wrap="square" lIns="0" rIns="0" tIns="0" bIns="0" anchor="t">
            <a:spAutoFit/>
          </a:bodyPr>
          <a:lstStyle/>
          <a:p>
            <a:pPr algn="l"/>
            <a:r>
              <a:rPr sz="1400" b="1">
                <a:solidFill>
                  <a:srgbClr val="2C3E50"/>
                </a:solidFill>
                <a:latin typeface="Calibri"/>
              </a:rPr>
              <a:t>Sticky right panel + scrollytelling left panel:</a:t>
            </a:r>
          </a:p>
        </p:txBody>
      </p:sp>
      <p:sp>
        <p:nvSpPr>
          <p:cNvPr id="19" name="TextBox 18"/>
          <p:cNvSpPr txBox="1"/>
          <p:nvPr/>
        </p:nvSpPr>
        <p:spPr>
          <a:xfrm>
            <a:off x="548640" y="5577840"/>
            <a:ext cx="10972800" cy="1097280"/>
          </a:xfrm>
          <a:prstGeom prst="rect">
            <a:avLst/>
          </a:prstGeom>
          <a:noFill/>
        </p:spPr>
        <p:txBody>
          <a:bodyPr wrap="square" lIns="0" rIns="0" tIns="0" bIns="0" anchor="t">
            <a:spAutoFit/>
          </a:bodyPr>
          <a:lstStyle/>
          <a:p>
            <a:pPr algn="l"/>
            <a:r>
              <a:rPr sz="1400" b="0">
                <a:solidFill>
                  <a:srgbClr val="7B8A8B"/>
                </a:solidFill>
                <a:latin typeface="Calibri"/>
              </a:rPr>
              <a:t>the chart stays anchored as the prose advances, so each narrative beat resolves against a visible mark.</a:t>
            </a:r>
          </a:p>
        </p:txBody>
      </p:sp>
      <p:sp>
        <p:nvSpPr>
          <p:cNvPr id="20" name="Rectangle 19"/>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22" name="TextBox 21"/>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0  ·  PART I — AMERICAN PROBLEM</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Scrollymap · The American Problem at a Glance</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County-level mobility map with button-triggered animation through three tiers.</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1">
                <a:solidFill>
                  <a:srgbClr val="C0392B"/>
                </a:solidFill>
                <a:latin typeface="Calibri"/>
              </a:rPr>
              <a:t>Stuck (red) </a:t>
            </a:r>
            <a:r>
              <a:rPr sz="1400" b="0">
                <a:solidFill>
                  <a:srgbClr val="1A232E"/>
                </a:solidFill>
                <a:latin typeface="Calibri"/>
              </a:rPr>
              <a:t>→ Treading water (amber) → </a:t>
            </a:r>
            <a:r>
              <a:rPr sz="1400" b="1">
                <a:solidFill>
                  <a:srgbClr val="2E86C1"/>
                </a:solidFill>
                <a:latin typeface="Calibri"/>
              </a:rPr>
              <a:t>Climbing (blue)</a:t>
            </a:r>
          </a:p>
          <a:p>
            <a:pPr algn="l">
              <a:lnSpc>
                <a:spcPct val="125000"/>
              </a:lnSpc>
            </a:pPr>
            <a:r>
              <a:rPr sz="1400">
                <a:solidFill>
                  <a:srgbClr val="7B8A8B"/>
                </a:solidFill>
                <a:latin typeface="Calibri"/>
              </a:rPr>
              <a:t>•  </a:t>
            </a:r>
            <a:r>
              <a:rPr sz="1400" b="0">
                <a:solidFill>
                  <a:srgbClr val="1A232E"/>
                </a:solidFill>
                <a:latin typeface="Calibri"/>
              </a:rPr>
              <a:t>Toggleable to state-bubble (Dorling) view</a:t>
            </a:r>
          </a:p>
          <a:p>
            <a:pPr algn="l">
              <a:lnSpc>
                <a:spcPct val="125000"/>
              </a:lnSpc>
            </a:pPr>
            <a:r>
              <a:rPr sz="1400">
                <a:solidFill>
                  <a:srgbClr val="7B8A8B"/>
                </a:solidFill>
                <a:latin typeface="Calibri"/>
              </a:rPr>
              <a:t>•  </a:t>
            </a:r>
            <a:r>
              <a:rPr sz="1400" b="0">
                <a:solidFill>
                  <a:srgbClr val="1A232E"/>
                </a:solidFill>
                <a:latin typeface="Calibri"/>
              </a:rPr>
              <a:t>Click a state → zoom to its counties</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Play button instead of scroll trigger — fixes layout reflow races.</a:t>
            </a:r>
          </a:p>
        </p:txBody>
      </p:sp>
      <p:pic>
        <p:nvPicPr>
          <p:cNvPr id="14" name="Picture 13" descr="step0_scrollymap.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1  ·  PART I — AMERICAN PROBLEM</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ScatterPlot · Poor vs Rich Children</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Adult-rank by county for poor-children vs rich-children parents.</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0">
                <a:solidFill>
                  <a:srgbClr val="1A232E"/>
                </a:solidFill>
                <a:latin typeface="Calibri"/>
              </a:rPr>
              <a:t>Diagonal = perfect-mobility line</a:t>
            </a:r>
          </a:p>
          <a:p>
            <a:pPr algn="l">
              <a:lnSpc>
                <a:spcPct val="125000"/>
              </a:lnSpc>
            </a:pPr>
            <a:r>
              <a:rPr sz="1400">
                <a:solidFill>
                  <a:srgbClr val="7B8A8B"/>
                </a:solidFill>
                <a:latin typeface="Calibri"/>
              </a:rPr>
              <a:t>•  </a:t>
            </a:r>
            <a:r>
              <a:rPr sz="1400" b="0">
                <a:solidFill>
                  <a:srgbClr val="1A232E"/>
                </a:solidFill>
                <a:latin typeface="Calibri"/>
              </a:rPr>
              <a:t>Color encodes the gap (teal → yellow → red)</a:t>
            </a:r>
          </a:p>
          <a:p>
            <a:pPr algn="l">
              <a:lnSpc>
                <a:spcPct val="125000"/>
              </a:lnSpc>
            </a:pPr>
            <a:r>
              <a:rPr sz="1400">
                <a:solidFill>
                  <a:srgbClr val="7B8A8B"/>
                </a:solidFill>
                <a:latin typeface="Calibri"/>
              </a:rPr>
              <a:t>•  </a:t>
            </a:r>
            <a:r>
              <a:rPr sz="1400" b="1">
                <a:solidFill>
                  <a:srgbClr val="C0392B"/>
                </a:solidFill>
                <a:latin typeface="Calibri"/>
              </a:rPr>
              <a:t>Annotation: </a:t>
            </a:r>
            <a:r>
              <a:rPr sz="1400" b="0">
                <a:solidFill>
                  <a:srgbClr val="1A232E"/>
                </a:solidFill>
                <a:latin typeface="Calibri"/>
              </a:rPr>
              <a:t>the three counties with the largest mobility gap are labeled.</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Distance from the diagonal is the mobility gap.</a:t>
            </a:r>
          </a:p>
        </p:txBody>
      </p:sp>
      <p:pic>
        <p:nvPicPr>
          <p:cNvPr id="14" name="Picture 13" descr="step1_scatter.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2  ·  PART I — AMERICAN PROBLEM</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ChangeMap · 1978 → 1992 Birth Cohorts</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Animated transition from the 1978 baseline to the 1992 outcome.</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0">
                <a:solidFill>
                  <a:srgbClr val="1A232E"/>
                </a:solidFill>
                <a:latin typeface="Calibri"/>
              </a:rPr>
              <a:t>Counties reveal in order of largest absolute change</a:t>
            </a:r>
          </a:p>
          <a:p>
            <a:pPr algn="l">
              <a:lnSpc>
                <a:spcPct val="125000"/>
              </a:lnSpc>
            </a:pPr>
            <a:r>
              <a:rPr sz="1400">
                <a:solidFill>
                  <a:srgbClr val="7B8A8B"/>
                </a:solidFill>
                <a:latin typeface="Calibri"/>
              </a:rPr>
              <a:t>•  </a:t>
            </a:r>
            <a:r>
              <a:rPr sz="1400" b="1">
                <a:solidFill>
                  <a:srgbClr val="C0392B"/>
                </a:solidFill>
                <a:latin typeface="Calibri"/>
              </a:rPr>
              <a:t>Annotations: </a:t>
            </a:r>
            <a:r>
              <a:rPr sz="1400" b="0">
                <a:solidFill>
                  <a:srgbClr val="1A232E"/>
                </a:solidFill>
                <a:latin typeface="Calibri"/>
              </a:rPr>
              <a:t>SOUTH / MIDWEST region tags anchor regional prose claims.</a:t>
            </a:r>
          </a:p>
          <a:p>
            <a:pPr algn="l">
              <a:lnSpc>
                <a:spcPct val="125000"/>
              </a:lnSpc>
            </a:pPr>
            <a:r>
              <a:rPr sz="1400">
                <a:solidFill>
                  <a:srgbClr val="7B8A8B"/>
                </a:solidFill>
                <a:latin typeface="Calibri"/>
              </a:rPr>
              <a:t>•  </a:t>
            </a:r>
            <a:r>
              <a:rPr sz="1400" b="0">
                <a:solidFill>
                  <a:srgbClr val="1A232E"/>
                </a:solidFill>
                <a:latin typeface="Calibri"/>
              </a:rPr>
              <a:t>Eye is drawn first to where mobility moved most</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Reveal order is the magnitude of change, not alphabetical.</a:t>
            </a:r>
          </a:p>
        </p:txBody>
      </p:sp>
      <p:pic>
        <p:nvPicPr>
          <p:cNvPr id="14" name="Picture 13" descr="step2_changemap.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3  ·  PART I — AMERICAN PROBLEM</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SchoolFunding · The Bridge to the Global View</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Stacked bar: Central/Federal vs. Local/State education funding share.</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0">
                <a:solidFill>
                  <a:srgbClr val="1A232E"/>
                </a:solidFill>
                <a:latin typeface="Calibri"/>
              </a:rPr>
              <a:t>U.S. vs. five wealthy peers</a:t>
            </a:r>
          </a:p>
          <a:p>
            <a:pPr algn="l">
              <a:lnSpc>
                <a:spcPct val="125000"/>
              </a:lnSpc>
            </a:pPr>
            <a:r>
              <a:rPr sz="1400">
                <a:solidFill>
                  <a:srgbClr val="7B8A8B"/>
                </a:solidFill>
                <a:latin typeface="Calibri"/>
              </a:rPr>
              <a:t>•  </a:t>
            </a:r>
            <a:r>
              <a:rPr sz="1400" b="1">
                <a:solidFill>
                  <a:srgbClr val="C0392B"/>
                </a:solidFill>
                <a:latin typeface="Calibri"/>
              </a:rPr>
              <a:t>Annotation: </a:t>
            </a:r>
            <a:r>
              <a:rPr sz="1400" b="0">
                <a:solidFill>
                  <a:srgbClr val="1A232E"/>
                </a:solidFill>
                <a:latin typeface="Calibri"/>
              </a:rPr>
              <a:t>big 'X% local' headline centered in the U.S. red segment.</a:t>
            </a:r>
          </a:p>
          <a:p>
            <a:pPr algn="l">
              <a:lnSpc>
                <a:spcPct val="125000"/>
              </a:lnSpc>
            </a:pPr>
            <a:r>
              <a:rPr sz="1400">
                <a:solidFill>
                  <a:srgbClr val="7B8A8B"/>
                </a:solidFill>
                <a:latin typeface="Calibri"/>
              </a:rPr>
              <a:t>•  </a:t>
            </a:r>
            <a:r>
              <a:rPr sz="1400" b="0">
                <a:solidFill>
                  <a:srgbClr val="1A232E"/>
                </a:solidFill>
                <a:latin typeface="Calibri"/>
              </a:rPr>
              <a:t>Pivot from the American problem to the global perspective</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The U.S. funds schools through local property tax — geography of opportunity is geography of the tax base.</a:t>
            </a:r>
          </a:p>
        </p:txBody>
      </p:sp>
      <p:pic>
        <p:nvPicPr>
          <p:cNvPr id="14" name="Picture 13" descr="step3_schoolfunding.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4  ·  PART II — GLOBAL PERSPECTIVE</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The Great Gatsby Curve</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Cross-country scatter: after-tax Gini vs. immobility (IGE).</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0">
                <a:solidFill>
                  <a:srgbClr val="1A232E"/>
                </a:solidFill>
                <a:latin typeface="Calibri"/>
              </a:rPr>
              <a:t>Trend line: more inequality ↔ less mobility</a:t>
            </a:r>
          </a:p>
          <a:p>
            <a:pPr algn="l">
              <a:lnSpc>
                <a:spcPct val="125000"/>
              </a:lnSpc>
            </a:pPr>
            <a:r>
              <a:rPr sz="1400">
                <a:solidFill>
                  <a:srgbClr val="7B8A8B"/>
                </a:solidFill>
                <a:latin typeface="Calibri"/>
              </a:rPr>
              <a:t>•  </a:t>
            </a:r>
            <a:r>
              <a:rPr sz="1400" b="1">
                <a:solidFill>
                  <a:srgbClr val="C0392B"/>
                </a:solidFill>
                <a:latin typeface="Calibri"/>
              </a:rPr>
              <a:t>Country labels: </a:t>
            </a:r>
            <a:r>
              <a:rPr sz="1400" b="0">
                <a:solidFill>
                  <a:srgbClr val="1A232E"/>
                </a:solidFill>
                <a:latin typeface="Calibri"/>
              </a:rPr>
              <a:t>U.S. in red, NORDIC BENCHMARKS caption</a:t>
            </a:r>
          </a:p>
          <a:p>
            <a:pPr algn="l">
              <a:lnSpc>
                <a:spcPct val="125000"/>
              </a:lnSpc>
            </a:pPr>
            <a:r>
              <a:rPr sz="1400">
                <a:solidFill>
                  <a:srgbClr val="7B8A8B"/>
                </a:solidFill>
                <a:latin typeface="Calibri"/>
              </a:rPr>
              <a:t>•  </a:t>
            </a:r>
            <a:r>
              <a:rPr sz="1400" b="1">
                <a:solidFill>
                  <a:srgbClr val="C0392B"/>
                </a:solidFill>
                <a:latin typeface="Calibri"/>
              </a:rPr>
              <a:t>Takeaway callout: </a:t>
            </a:r>
            <a:r>
              <a:rPr sz="1400" b="0">
                <a:solidFill>
                  <a:srgbClr val="1A232E"/>
                </a:solidFill>
                <a:latin typeface="Calibri"/>
              </a:rPr>
              <a:t>'U.S. — high inequality, low mobility' with dashed leader.</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The U.S. sits up and to the right — the worst quadrant on both axes.</a:t>
            </a:r>
          </a:p>
        </p:txBody>
      </p:sp>
      <p:pic>
        <p:nvPicPr>
          <p:cNvPr id="14" name="Picture 13" descr="step4_gatsby.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5  ·  PART II — GLOBAL PERSPECTIVE</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Redistribution Dumbbell</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For 14 countries: market Gini → disposable Gini after taxes/transfers.</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0">
                <a:solidFill>
                  <a:srgbClr val="1A232E"/>
                </a:solidFill>
                <a:latin typeface="Calibri"/>
              </a:rPr>
              <a:t>Each row's Δ is labeled in points</a:t>
            </a:r>
          </a:p>
          <a:p>
            <a:pPr algn="l">
              <a:lnSpc>
                <a:spcPct val="125000"/>
              </a:lnSpc>
            </a:pPr>
            <a:r>
              <a:rPr sz="1400">
                <a:solidFill>
                  <a:srgbClr val="7B8A8B"/>
                </a:solidFill>
                <a:latin typeface="Calibri"/>
              </a:rPr>
              <a:t>•  </a:t>
            </a:r>
            <a:r>
              <a:rPr sz="1400" b="1">
                <a:solidFill>
                  <a:srgbClr val="27AE60"/>
                </a:solidFill>
                <a:latin typeface="Calibri"/>
              </a:rPr>
              <a:t>Nordic accent: </a:t>
            </a:r>
            <a:r>
              <a:rPr sz="1400" b="0">
                <a:solidFill>
                  <a:srgbClr val="1A232E"/>
                </a:solidFill>
                <a:latin typeface="Calibri"/>
              </a:rPr>
              <a:t>green color + thicker line for visual binding to prose</a:t>
            </a:r>
          </a:p>
          <a:p>
            <a:pPr algn="l">
              <a:lnSpc>
                <a:spcPct val="125000"/>
              </a:lnSpc>
            </a:pPr>
            <a:r>
              <a:rPr sz="1400">
                <a:solidFill>
                  <a:srgbClr val="7B8A8B"/>
                </a:solidFill>
                <a:latin typeface="Calibri"/>
              </a:rPr>
              <a:t>•  </a:t>
            </a:r>
            <a:r>
              <a:rPr sz="1400" b="0">
                <a:solidFill>
                  <a:srgbClr val="1A232E"/>
                </a:solidFill>
                <a:latin typeface="Calibri"/>
              </a:rPr>
              <a:t>Headline contrasts U.S. redistribution against the strongest Nordic redistributor</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Denmark cuts ~25 points; the U.S. cuts under 10. The institutional choice matters.</a:t>
            </a:r>
          </a:p>
        </p:txBody>
      </p:sp>
      <p:pic>
        <p:nvPicPr>
          <p:cNvPr id="14" name="Picture 13" descr="step5_dumbbell.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STEP 6  ·  PART II — GLOBAL PERSPECTIVE</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Mobility League · The Closing Frame</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Ranking of 20 major economies by intergenerational immobility (IGE).</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1">
                <a:solidFill>
                  <a:srgbClr val="C0392B"/>
                </a:solidFill>
                <a:latin typeface="Calibri"/>
              </a:rPr>
              <a:t>Animation: </a:t>
            </a:r>
            <a:r>
              <a:rPr sz="1400" b="0">
                <a:solidFill>
                  <a:srgbClr val="1A232E"/>
                </a:solidFill>
                <a:latin typeface="Calibri"/>
              </a:rPr>
              <a:t>scatter dots morph into sorted bar ranking (~1.2s, rect-with-rx interpolation)</a:t>
            </a:r>
          </a:p>
          <a:p>
            <a:pPr algn="l">
              <a:lnSpc>
                <a:spcPct val="125000"/>
              </a:lnSpc>
            </a:pPr>
            <a:r>
              <a:rPr sz="1400">
                <a:solidFill>
                  <a:srgbClr val="7B8A8B"/>
                </a:solidFill>
                <a:latin typeface="Calibri"/>
              </a:rPr>
              <a:t>•  </a:t>
            </a:r>
            <a:r>
              <a:rPr sz="1400" b="1">
                <a:solidFill>
                  <a:srgbClr val="C0392B"/>
                </a:solidFill>
                <a:latin typeface="Calibri"/>
              </a:rPr>
              <a:t>U.S. callout: </a:t>
            </a:r>
            <a:r>
              <a:rPr sz="1400" b="0">
                <a:solidFill>
                  <a:srgbClr val="1A232E"/>
                </a:solidFill>
                <a:latin typeface="Calibri"/>
              </a:rPr>
              <a:t>'rank N of 20' with leader line</a:t>
            </a:r>
          </a:p>
          <a:p>
            <a:pPr algn="l">
              <a:lnSpc>
                <a:spcPct val="125000"/>
              </a:lnSpc>
            </a:pPr>
            <a:r>
              <a:rPr sz="1400">
                <a:solidFill>
                  <a:srgbClr val="7B8A8B"/>
                </a:solidFill>
                <a:latin typeface="Calibri"/>
              </a:rPr>
              <a:t>•  </a:t>
            </a:r>
            <a:r>
              <a:rPr sz="1400" b="0">
                <a:solidFill>
                  <a:srgbClr val="1A232E"/>
                </a:solidFill>
                <a:latin typeface="Calibri"/>
              </a:rPr>
              <a:t>▸ peer tags on Canada, Sweden, U.K., Japan</a:t>
            </a:r>
          </a:p>
          <a:p>
            <a:pPr algn="l">
              <a:lnSpc>
                <a:spcPct val="125000"/>
              </a:lnSpc>
            </a:pPr>
            <a:r>
              <a:rPr sz="1400">
                <a:solidFill>
                  <a:srgbClr val="7B8A8B"/>
                </a:solidFill>
                <a:latin typeface="Calibri"/>
              </a:rPr>
              <a:t>•  </a:t>
            </a:r>
            <a:r>
              <a:rPr sz="1400" b="0">
                <a:solidFill>
                  <a:srgbClr val="1A232E"/>
                </a:solidFill>
                <a:latin typeface="Calibri"/>
              </a:rPr>
              <a:t>Takeaway: 'Nine wealthy peers rank above the U.S.'</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Continuity from Step 4 to Step 6 is the whole argument: same world, viewed two ways.</a:t>
            </a:r>
          </a:p>
        </p:txBody>
      </p:sp>
      <p:pic>
        <p:nvPicPr>
          <p:cNvPr id="14" name="Picture 13" descr="step6_league.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BONUS · STEP 7</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Bonus · A Topography of Opportunity</a:t>
            </a:r>
          </a:p>
        </p:txBody>
      </p:sp>
      <p:sp>
        <p:nvSpPr>
          <p:cNvPr id="6" name="Rectangle 5"/>
          <p:cNvSpPr/>
          <p:nvPr/>
        </p:nvSpPr>
        <p:spPr>
          <a:xfrm>
            <a:off x="10515600" y="777240"/>
            <a:ext cx="12344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777240"/>
            <a:ext cx="1234440" cy="411480"/>
          </a:xfrm>
          <a:prstGeom prst="rect">
            <a:avLst/>
          </a:prstGeom>
          <a:noFill/>
        </p:spPr>
        <p:txBody>
          <a:bodyPr wrap="none" lIns="0" rIns="0" tIns="0" bIns="0" anchor="ctr">
            <a:spAutoFit/>
          </a:bodyPr>
          <a:lstStyle/>
          <a:p>
            <a:pPr algn="ctr"/>
            <a:r>
              <a:rPr sz="1100" b="1">
                <a:solidFill>
                  <a:srgbClr val="FFFFFF"/>
                </a:solidFill>
                <a:latin typeface="Calibri"/>
              </a:rPr>
              <a:t>▶ LIVE DEMO</a:t>
            </a:r>
          </a:p>
        </p:txBody>
      </p:sp>
      <p:sp>
        <p:nvSpPr>
          <p:cNvPr id="8" name="TextBox 7"/>
          <p:cNvSpPr txBox="1"/>
          <p:nvPr/>
        </p:nvSpPr>
        <p:spPr>
          <a:xfrm>
            <a:off x="548640" y="1828800"/>
            <a:ext cx="5029200" cy="548640"/>
          </a:xfrm>
          <a:prstGeom prst="rect">
            <a:avLst/>
          </a:prstGeom>
          <a:noFill/>
        </p:spPr>
        <p:txBody>
          <a:bodyPr wrap="square" lIns="0" rIns="0" tIns="0" bIns="0" anchor="t">
            <a:spAutoFit/>
          </a:bodyPr>
          <a:lstStyle/>
          <a:p>
            <a:pPr algn="l"/>
            <a:r>
              <a:rPr sz="1400" b="0">
                <a:solidFill>
                  <a:srgbClr val="7B8A8B"/>
                </a:solidFill>
                <a:latin typeface="Calibri"/>
              </a:rPr>
              <a:t>3D extruded county map (deck.gl) — height = mobility for poor-parent children, 1992.</a:t>
            </a:r>
          </a:p>
        </p:txBody>
      </p:sp>
      <p:sp>
        <p:nvSpPr>
          <p:cNvPr id="9" name="TextBox 8"/>
          <p:cNvSpPr txBox="1"/>
          <p:nvPr/>
        </p:nvSpPr>
        <p:spPr>
          <a:xfrm>
            <a:off x="548640" y="2606040"/>
            <a:ext cx="5029200" cy="2286000"/>
          </a:xfrm>
          <a:prstGeom prst="rect">
            <a:avLst/>
          </a:prstGeom>
          <a:noFill/>
        </p:spPr>
        <p:txBody>
          <a:bodyPr wrap="square" lIns="0" rIns="0">
            <a:spAutoFit/>
          </a:bodyPr>
          <a:lstStyle/>
          <a:p>
            <a:pPr algn="l">
              <a:lnSpc>
                <a:spcPct val="125000"/>
              </a:lnSpc>
            </a:pPr>
            <a:r>
              <a:rPr sz="1400">
                <a:solidFill>
                  <a:srgbClr val="7B8A8B"/>
                </a:solidFill>
                <a:latin typeface="Calibri"/>
              </a:rPr>
              <a:t>•  </a:t>
            </a:r>
            <a:r>
              <a:rPr sz="1400" b="1">
                <a:solidFill>
                  <a:srgbClr val="C0392B"/>
                </a:solidFill>
                <a:latin typeface="Calibri"/>
              </a:rPr>
              <a:t>Tech: </a:t>
            </a:r>
            <a:r>
              <a:rPr sz="1400" b="0">
                <a:solidFill>
                  <a:srgbClr val="1A232E"/>
                </a:solidFill>
                <a:latin typeface="Calibri"/>
              </a:rPr>
              <a:t>deck.gl OrbitView + ColumnLayer + PathLayer (state borders)</a:t>
            </a:r>
          </a:p>
          <a:p>
            <a:pPr algn="l">
              <a:lnSpc>
                <a:spcPct val="125000"/>
              </a:lnSpc>
            </a:pPr>
            <a:r>
              <a:rPr sz="1400">
                <a:solidFill>
                  <a:srgbClr val="7B8A8B"/>
                </a:solidFill>
                <a:latin typeface="Calibri"/>
              </a:rPr>
              <a:t>•  </a:t>
            </a:r>
            <a:r>
              <a:rPr sz="1400" b="0">
                <a:solidFill>
                  <a:srgbClr val="1A232E"/>
                </a:solidFill>
                <a:latin typeface="Calibri"/>
              </a:rPr>
              <a:t>Lazy-loaded — only downloads when the user scrolls into Step 7</a:t>
            </a:r>
          </a:p>
          <a:p>
            <a:pPr algn="l">
              <a:lnSpc>
                <a:spcPct val="125000"/>
              </a:lnSpc>
            </a:pPr>
            <a:r>
              <a:rPr sz="1400">
                <a:solidFill>
                  <a:srgbClr val="7B8A8B"/>
                </a:solidFill>
                <a:latin typeface="Calibri"/>
              </a:rPr>
              <a:t>•  </a:t>
            </a:r>
            <a:r>
              <a:rPr sz="1400" b="0">
                <a:solidFill>
                  <a:srgbClr val="1A232E"/>
                </a:solidFill>
                <a:latin typeface="Calibri"/>
              </a:rPr>
              <a:t>Drag to orbit · Scroll to zoom · Hover for county detail</a:t>
            </a:r>
          </a:p>
          <a:p>
            <a:pPr algn="l">
              <a:lnSpc>
                <a:spcPct val="125000"/>
              </a:lnSpc>
            </a:pPr>
            <a:r>
              <a:rPr sz="1400">
                <a:solidFill>
                  <a:srgbClr val="7B8A8B"/>
                </a:solidFill>
                <a:latin typeface="Calibri"/>
              </a:rPr>
              <a:t>•  </a:t>
            </a:r>
            <a:r>
              <a:rPr sz="1400" b="0">
                <a:solidFill>
                  <a:srgbClr val="1A232E"/>
                </a:solidFill>
                <a:latin typeface="Calibri"/>
              </a:rPr>
              <a:t>Mountains and valleys aren't even on the same scale</a:t>
            </a:r>
          </a:p>
        </p:txBody>
      </p:sp>
      <p:sp>
        <p:nvSpPr>
          <p:cNvPr id="10" name="Rectangle 9"/>
          <p:cNvSpPr/>
          <p:nvPr/>
        </p:nvSpPr>
        <p:spPr>
          <a:xfrm>
            <a:off x="548640" y="5029200"/>
            <a:ext cx="5029200" cy="1280160"/>
          </a:xfrm>
          <a:prstGeom prst="rect">
            <a:avLst/>
          </a:prstGeom>
          <a:solidFill>
            <a:srgbClr val="FDF2F1"/>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0292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4754880" cy="274320"/>
          </a:xfrm>
          <a:prstGeom prst="rect">
            <a:avLst/>
          </a:prstGeom>
          <a:noFill/>
        </p:spPr>
        <p:txBody>
          <a:bodyPr wrap="square" lIns="0" rIns="0" tIns="0" bIns="0" anchor="t">
            <a:spAutoFit/>
          </a:bodyPr>
          <a:lstStyle/>
          <a:p>
            <a:pPr algn="l"/>
            <a:r>
              <a:rPr sz="1000" b="1">
                <a:solidFill>
                  <a:srgbClr val="C0392B"/>
                </a:solidFill>
                <a:latin typeface="Calibri"/>
              </a:rPr>
              <a:t>TAKEAWAY</a:t>
            </a:r>
          </a:p>
        </p:txBody>
      </p:sp>
      <p:sp>
        <p:nvSpPr>
          <p:cNvPr id="13" name="TextBox 12"/>
          <p:cNvSpPr txBox="1"/>
          <p:nvPr/>
        </p:nvSpPr>
        <p:spPr>
          <a:xfrm>
            <a:off x="777240" y="5440680"/>
            <a:ext cx="4754880" cy="822960"/>
          </a:xfrm>
          <a:prstGeom prst="rect">
            <a:avLst/>
          </a:prstGeom>
          <a:noFill/>
        </p:spPr>
        <p:txBody>
          <a:bodyPr wrap="square" lIns="0" rIns="0" tIns="0" bIns="0" anchor="t">
            <a:spAutoFit/>
          </a:bodyPr>
          <a:lstStyle/>
          <a:p>
            <a:pPr algn="l"/>
            <a:r>
              <a:rPr sz="1300" b="0">
                <a:solidFill>
                  <a:srgbClr val="1A232E"/>
                </a:solidFill>
                <a:latin typeface="Calibri"/>
              </a:rPr>
              <a:t>2D answers WHICH counties are stuck. 3D answers HOW DRAMATIC the difference is.</a:t>
            </a:r>
          </a:p>
        </p:txBody>
      </p:sp>
      <p:pic>
        <p:nvPicPr>
          <p:cNvPr id="14" name="Picture 13" descr="step7_3d.png"/>
          <p:cNvPicPr>
            <a:picLocks noChangeAspect="1"/>
          </p:cNvPicPr>
          <p:nvPr/>
        </p:nvPicPr>
        <p:blipFill>
          <a:blip r:embed="rId2"/>
          <a:stretch>
            <a:fillRect/>
          </a:stretch>
        </p:blipFill>
        <p:spPr>
          <a:xfrm>
            <a:off x="5943600" y="1828800"/>
            <a:ext cx="5760720" cy="4389120"/>
          </a:xfrm>
          <a:prstGeom prst="rect">
            <a:avLst/>
          </a:prstGeom>
          <a:ln w="9525">
            <a:solidFill>
              <a:srgbClr val="E3E8EE"/>
            </a:solidFill>
          </a:ln>
        </p:spPr>
      </p:pic>
      <p:sp>
        <p:nvSpPr>
          <p:cNvPr id="15" name="Rectangle 14"/>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17" name="TextBox 16"/>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WHAT WE LEARNED THE HARD WAY</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Design Decisions That Mattered</a:t>
            </a:r>
          </a:p>
        </p:txBody>
      </p:sp>
      <p:sp>
        <p:nvSpPr>
          <p:cNvPr id="6" name="Rectangle 5"/>
          <p:cNvSpPr/>
          <p:nvPr/>
        </p:nvSpPr>
        <p:spPr>
          <a:xfrm>
            <a:off x="548640" y="182880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93392"/>
            <a:ext cx="5074920" cy="365760"/>
          </a:xfrm>
          <a:prstGeom prst="rect">
            <a:avLst/>
          </a:prstGeom>
          <a:noFill/>
        </p:spPr>
        <p:txBody>
          <a:bodyPr wrap="square" lIns="0" rIns="0" tIns="0" bIns="0" anchor="t">
            <a:spAutoFit/>
          </a:bodyPr>
          <a:lstStyle/>
          <a:p>
            <a:pPr algn="l"/>
            <a:r>
              <a:rPr sz="1400" b="1">
                <a:solidFill>
                  <a:srgbClr val="2C3E50"/>
                </a:solidFill>
                <a:latin typeface="Calibri"/>
              </a:rPr>
              <a:t>1. Two-act structure</a:t>
            </a:r>
          </a:p>
        </p:txBody>
      </p:sp>
      <p:sp>
        <p:nvSpPr>
          <p:cNvPr id="9" name="TextBox 8"/>
          <p:cNvSpPr txBox="1"/>
          <p:nvPr/>
        </p:nvSpPr>
        <p:spPr>
          <a:xfrm>
            <a:off x="822960" y="2377440"/>
            <a:ext cx="5074920" cy="777240"/>
          </a:xfrm>
          <a:prstGeom prst="rect">
            <a:avLst/>
          </a:prstGeom>
          <a:noFill/>
        </p:spPr>
        <p:txBody>
          <a:bodyPr wrap="square" lIns="0" rIns="0" tIns="0" bIns="0" anchor="t">
            <a:spAutoFit/>
          </a:bodyPr>
          <a:lstStyle/>
          <a:p>
            <a:pPr algn="l"/>
            <a:r>
              <a:rPr sz="1100" b="0">
                <a:solidFill>
                  <a:srgbClr val="1A232E"/>
                </a:solidFill>
                <a:latin typeface="Calibri"/>
              </a:rPr>
              <a:t>Local → global lets the reader internalize within-country spread before weighing the U.S. against peers.</a:t>
            </a:r>
          </a:p>
        </p:txBody>
      </p:sp>
      <p:sp>
        <p:nvSpPr>
          <p:cNvPr id="10" name="Rectangle 9"/>
          <p:cNvSpPr/>
          <p:nvPr/>
        </p:nvSpPr>
        <p:spPr>
          <a:xfrm>
            <a:off x="6263640" y="182880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82880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993392"/>
            <a:ext cx="5074920" cy="365760"/>
          </a:xfrm>
          <a:prstGeom prst="rect">
            <a:avLst/>
          </a:prstGeom>
          <a:noFill/>
        </p:spPr>
        <p:txBody>
          <a:bodyPr wrap="square" lIns="0" rIns="0" tIns="0" bIns="0" anchor="t">
            <a:spAutoFit/>
          </a:bodyPr>
          <a:lstStyle/>
          <a:p>
            <a:pPr algn="l"/>
            <a:r>
              <a:rPr sz="1400" b="1">
                <a:solidFill>
                  <a:srgbClr val="2C3E50"/>
                </a:solidFill>
                <a:latin typeface="Calibri"/>
              </a:rPr>
              <a:t>2. Sticky right panel</a:t>
            </a:r>
          </a:p>
        </p:txBody>
      </p:sp>
      <p:sp>
        <p:nvSpPr>
          <p:cNvPr id="13" name="TextBox 12"/>
          <p:cNvSpPr txBox="1"/>
          <p:nvPr/>
        </p:nvSpPr>
        <p:spPr>
          <a:xfrm>
            <a:off x="6537960" y="2377440"/>
            <a:ext cx="5074920" cy="777240"/>
          </a:xfrm>
          <a:prstGeom prst="rect">
            <a:avLst/>
          </a:prstGeom>
          <a:noFill/>
        </p:spPr>
        <p:txBody>
          <a:bodyPr wrap="square" lIns="0" rIns="0" tIns="0" bIns="0" anchor="t">
            <a:spAutoFit/>
          </a:bodyPr>
          <a:lstStyle/>
          <a:p>
            <a:pPr algn="l"/>
            <a:r>
              <a:rPr sz="1100" b="0">
                <a:solidFill>
                  <a:srgbClr val="1A232E"/>
                </a:solidFill>
                <a:latin typeface="Calibri"/>
              </a:rPr>
              <a:t>Chart stays anchored; prose advances on the left. Each narrative beat resolves against a visible mark.</a:t>
            </a:r>
          </a:p>
        </p:txBody>
      </p:sp>
      <p:sp>
        <p:nvSpPr>
          <p:cNvPr id="14" name="Rectangle 13"/>
          <p:cNvSpPr/>
          <p:nvPr/>
        </p:nvSpPr>
        <p:spPr>
          <a:xfrm>
            <a:off x="548640" y="324612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24612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410712"/>
            <a:ext cx="5074920" cy="365760"/>
          </a:xfrm>
          <a:prstGeom prst="rect">
            <a:avLst/>
          </a:prstGeom>
          <a:noFill/>
        </p:spPr>
        <p:txBody>
          <a:bodyPr wrap="square" lIns="0" rIns="0" tIns="0" bIns="0" anchor="t">
            <a:spAutoFit/>
          </a:bodyPr>
          <a:lstStyle/>
          <a:p>
            <a:pPr algn="l"/>
            <a:r>
              <a:rPr sz="1400" b="1">
                <a:solidFill>
                  <a:srgbClr val="2C3E50"/>
                </a:solidFill>
                <a:latin typeface="Calibri"/>
              </a:rPr>
              <a:t>3. Word–image binding</a:t>
            </a:r>
          </a:p>
        </p:txBody>
      </p:sp>
      <p:sp>
        <p:nvSpPr>
          <p:cNvPr id="17" name="TextBox 16"/>
          <p:cNvSpPr txBox="1"/>
          <p:nvPr/>
        </p:nvSpPr>
        <p:spPr>
          <a:xfrm>
            <a:off x="822960" y="3794760"/>
            <a:ext cx="5074920" cy="777240"/>
          </a:xfrm>
          <a:prstGeom prst="rect">
            <a:avLst/>
          </a:prstGeom>
          <a:noFill/>
        </p:spPr>
        <p:txBody>
          <a:bodyPr wrap="square" lIns="0" rIns="0" tIns="0" bIns="0" anchor="t">
            <a:spAutoFit/>
          </a:bodyPr>
          <a:lstStyle/>
          <a:p>
            <a:pPr algn="l"/>
            <a:r>
              <a:rPr sz="1100" b="0">
                <a:solidFill>
                  <a:srgbClr val="1A232E"/>
                </a:solidFill>
                <a:latin typeface="Calibri"/>
              </a:rPr>
              <a:t>When prose names a country, that row is visibly distinguished (deep-blue label, peer tag, leader line).</a:t>
            </a:r>
          </a:p>
        </p:txBody>
      </p:sp>
      <p:sp>
        <p:nvSpPr>
          <p:cNvPr id="18" name="Rectangle 17"/>
          <p:cNvSpPr/>
          <p:nvPr/>
        </p:nvSpPr>
        <p:spPr>
          <a:xfrm>
            <a:off x="6263640" y="324612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24612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410712"/>
            <a:ext cx="5074920" cy="365760"/>
          </a:xfrm>
          <a:prstGeom prst="rect">
            <a:avLst/>
          </a:prstGeom>
          <a:noFill/>
        </p:spPr>
        <p:txBody>
          <a:bodyPr wrap="square" lIns="0" rIns="0" tIns="0" bIns="0" anchor="t">
            <a:spAutoFit/>
          </a:bodyPr>
          <a:lstStyle/>
          <a:p>
            <a:pPr algn="l"/>
            <a:r>
              <a:rPr sz="1400" b="1">
                <a:solidFill>
                  <a:srgbClr val="2C3E50"/>
                </a:solidFill>
                <a:latin typeface="Calibri"/>
              </a:rPr>
              <a:t>4. Curated league of 20</a:t>
            </a:r>
          </a:p>
        </p:txBody>
      </p:sp>
      <p:sp>
        <p:nvSpPr>
          <p:cNvPr id="21" name="TextBox 20"/>
          <p:cNvSpPr txBox="1"/>
          <p:nvPr/>
        </p:nvSpPr>
        <p:spPr>
          <a:xfrm>
            <a:off x="6537960" y="3794760"/>
            <a:ext cx="5074920" cy="777240"/>
          </a:xfrm>
          <a:prstGeom prst="rect">
            <a:avLst/>
          </a:prstGeom>
          <a:noFill/>
        </p:spPr>
        <p:txBody>
          <a:bodyPr wrap="square" lIns="0" rIns="0" tIns="0" bIns="0" anchor="t">
            <a:spAutoFit/>
          </a:bodyPr>
          <a:lstStyle/>
          <a:p>
            <a:pPr algn="l"/>
            <a:r>
              <a:rPr sz="1100" b="0">
                <a:solidFill>
                  <a:srgbClr val="1A232E"/>
                </a:solidFill>
                <a:latin typeface="Calibri"/>
              </a:rPr>
              <a:t>Restricted to major economies. Random low-IGE outliers (Mauritius, Maldives) muddied the rich-peer framing.</a:t>
            </a:r>
          </a:p>
        </p:txBody>
      </p:sp>
      <p:sp>
        <p:nvSpPr>
          <p:cNvPr id="22" name="Rectangle 21"/>
          <p:cNvSpPr/>
          <p:nvPr/>
        </p:nvSpPr>
        <p:spPr>
          <a:xfrm>
            <a:off x="548640" y="466344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66344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828032"/>
            <a:ext cx="5074920" cy="365760"/>
          </a:xfrm>
          <a:prstGeom prst="rect">
            <a:avLst/>
          </a:prstGeom>
          <a:noFill/>
        </p:spPr>
        <p:txBody>
          <a:bodyPr wrap="square" lIns="0" rIns="0" tIns="0" bIns="0" anchor="t">
            <a:spAutoFit/>
          </a:bodyPr>
          <a:lstStyle/>
          <a:p>
            <a:pPr algn="l"/>
            <a:r>
              <a:rPr sz="1400" b="1">
                <a:solidFill>
                  <a:srgbClr val="2C3E50"/>
                </a:solidFill>
                <a:latin typeface="Calibri"/>
              </a:rPr>
              <a:t>5. Button trigger over scroll trigger</a:t>
            </a:r>
          </a:p>
        </p:txBody>
      </p:sp>
      <p:sp>
        <p:nvSpPr>
          <p:cNvPr id="25" name="TextBox 24"/>
          <p:cNvSpPr txBox="1"/>
          <p:nvPr/>
        </p:nvSpPr>
        <p:spPr>
          <a:xfrm>
            <a:off x="822960" y="5212080"/>
            <a:ext cx="5074920" cy="777240"/>
          </a:xfrm>
          <a:prstGeom prst="rect">
            <a:avLst/>
          </a:prstGeom>
          <a:noFill/>
        </p:spPr>
        <p:txBody>
          <a:bodyPr wrap="square" lIns="0" rIns="0" tIns="0" bIns="0" anchor="t">
            <a:spAutoFit/>
          </a:bodyPr>
          <a:lstStyle/>
          <a:p>
            <a:pPr algn="l"/>
            <a:r>
              <a:rPr sz="1100" b="0">
                <a:solidFill>
                  <a:srgbClr val="1A232E"/>
                </a:solidFill>
                <a:latin typeface="Calibri"/>
              </a:rPr>
              <a:t>Step 0 uses a Play button — fixes layout reflow on fast scrolls.</a:t>
            </a:r>
          </a:p>
        </p:txBody>
      </p:sp>
      <p:sp>
        <p:nvSpPr>
          <p:cNvPr id="26" name="Rectangle 25"/>
          <p:cNvSpPr/>
          <p:nvPr/>
        </p:nvSpPr>
        <p:spPr>
          <a:xfrm>
            <a:off x="6263640" y="4663440"/>
            <a:ext cx="5440680" cy="128016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4663440"/>
            <a:ext cx="731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828032"/>
            <a:ext cx="5074920" cy="365760"/>
          </a:xfrm>
          <a:prstGeom prst="rect">
            <a:avLst/>
          </a:prstGeom>
          <a:noFill/>
        </p:spPr>
        <p:txBody>
          <a:bodyPr wrap="square" lIns="0" rIns="0" tIns="0" bIns="0" anchor="t">
            <a:spAutoFit/>
          </a:bodyPr>
          <a:lstStyle/>
          <a:p>
            <a:pPr algn="l"/>
            <a:r>
              <a:rPr sz="1400" b="1">
                <a:solidFill>
                  <a:srgbClr val="2C3E50"/>
                </a:solidFill>
                <a:latin typeface="Calibri"/>
              </a:rPr>
              <a:t>6. 3D as bonus, not opener</a:t>
            </a:r>
          </a:p>
        </p:txBody>
      </p:sp>
      <p:sp>
        <p:nvSpPr>
          <p:cNvPr id="29" name="TextBox 28"/>
          <p:cNvSpPr txBox="1"/>
          <p:nvPr/>
        </p:nvSpPr>
        <p:spPr>
          <a:xfrm>
            <a:off x="6537960" y="5212080"/>
            <a:ext cx="5074920" cy="777240"/>
          </a:xfrm>
          <a:prstGeom prst="rect">
            <a:avLst/>
          </a:prstGeom>
          <a:noFill/>
        </p:spPr>
        <p:txBody>
          <a:bodyPr wrap="square" lIns="0" rIns="0" tIns="0" bIns="0" anchor="t">
            <a:spAutoFit/>
          </a:bodyPr>
          <a:lstStyle/>
          <a:p>
            <a:pPr algn="l"/>
            <a:r>
              <a:rPr sz="1100" b="0">
                <a:solidFill>
                  <a:srgbClr val="1A232E"/>
                </a:solidFill>
                <a:latin typeface="Calibri"/>
              </a:rPr>
              <a:t>Color encoding is more accessible for the headline argument. The 3D is for magnitude impact at the end.</a:t>
            </a:r>
          </a:p>
        </p:txBody>
      </p:sp>
      <p:sp>
        <p:nvSpPr>
          <p:cNvPr id="30" name="Rectangle 29"/>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32" name="TextBox 31"/>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WHAT MOVES, WHAT THE READER CAN DO</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Animation &amp; Interaction Highlights</a:t>
            </a:r>
          </a:p>
        </p:txBody>
      </p:sp>
      <p:sp>
        <p:nvSpPr>
          <p:cNvPr id="6" name="Rectangle 5"/>
          <p:cNvSpPr/>
          <p:nvPr/>
        </p:nvSpPr>
        <p:spPr>
          <a:xfrm>
            <a:off x="548640" y="182880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74520"/>
            <a:ext cx="365760" cy="365760"/>
          </a:xfrm>
          <a:prstGeom prst="rect">
            <a:avLst/>
          </a:prstGeom>
          <a:noFill/>
        </p:spPr>
        <p:txBody>
          <a:bodyPr wrap="square" lIns="0" rIns="0" tIns="0" bIns="0" anchor="t">
            <a:spAutoFit/>
          </a:bodyPr>
          <a:lstStyle/>
          <a:p>
            <a:pPr algn="ctr"/>
            <a:r>
              <a:rPr sz="1400" b="1">
                <a:solidFill>
                  <a:srgbClr val="FFFFFF"/>
                </a:solidFill>
                <a:latin typeface="Calibri"/>
              </a:rPr>
              <a:t>1</a:t>
            </a:r>
          </a:p>
        </p:txBody>
      </p:sp>
      <p:sp>
        <p:nvSpPr>
          <p:cNvPr id="8" name="TextBox 7"/>
          <p:cNvSpPr txBox="1"/>
          <p:nvPr/>
        </p:nvSpPr>
        <p:spPr>
          <a:xfrm>
            <a:off x="1143000" y="1847088"/>
            <a:ext cx="3474720" cy="457200"/>
          </a:xfrm>
          <a:prstGeom prst="rect">
            <a:avLst/>
          </a:prstGeom>
          <a:noFill/>
        </p:spPr>
        <p:txBody>
          <a:bodyPr wrap="square" lIns="0" rIns="0" tIns="0" bIns="0" anchor="t">
            <a:spAutoFit/>
          </a:bodyPr>
          <a:lstStyle/>
          <a:p>
            <a:pPr algn="l"/>
            <a:r>
              <a:rPr sz="1400" b="1">
                <a:solidFill>
                  <a:srgbClr val="2C3E50"/>
                </a:solidFill>
                <a:latin typeface="Calibri"/>
              </a:rPr>
              <a:t>Morph animation</a:t>
            </a:r>
          </a:p>
        </p:txBody>
      </p:sp>
      <p:sp>
        <p:nvSpPr>
          <p:cNvPr id="9" name="TextBox 8"/>
          <p:cNvSpPr txBox="1"/>
          <p:nvPr/>
        </p:nvSpPr>
        <p:spPr>
          <a:xfrm>
            <a:off x="4572000" y="1874520"/>
            <a:ext cx="6858000" cy="457200"/>
          </a:xfrm>
          <a:prstGeom prst="rect">
            <a:avLst/>
          </a:prstGeom>
          <a:noFill/>
        </p:spPr>
        <p:txBody>
          <a:bodyPr wrap="square" lIns="0" rIns="0" tIns="0" bIns="0" anchor="t">
            <a:spAutoFit/>
          </a:bodyPr>
          <a:lstStyle/>
          <a:p>
            <a:pPr algn="l"/>
            <a:r>
              <a:rPr sz="1300" b="0">
                <a:solidFill>
                  <a:srgbClr val="1A232E"/>
                </a:solidFill>
                <a:latin typeface="Calibri"/>
              </a:rPr>
              <a:t>scatter → bar ranking on Step 6</a:t>
            </a:r>
          </a:p>
        </p:txBody>
      </p:sp>
      <p:sp>
        <p:nvSpPr>
          <p:cNvPr id="10" name="Rectangle 9"/>
          <p:cNvSpPr/>
          <p:nvPr/>
        </p:nvSpPr>
        <p:spPr>
          <a:xfrm>
            <a:off x="548640" y="242316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68880"/>
            <a:ext cx="365760" cy="365760"/>
          </a:xfrm>
          <a:prstGeom prst="rect">
            <a:avLst/>
          </a:prstGeom>
          <a:noFill/>
        </p:spPr>
        <p:txBody>
          <a:bodyPr wrap="square" lIns="0" rIns="0" tIns="0" bIns="0" anchor="t">
            <a:spAutoFit/>
          </a:bodyPr>
          <a:lstStyle/>
          <a:p>
            <a:pPr algn="ctr"/>
            <a:r>
              <a:rPr sz="1400" b="1">
                <a:solidFill>
                  <a:srgbClr val="FFFFFF"/>
                </a:solidFill>
                <a:latin typeface="Calibri"/>
              </a:rPr>
              <a:t>2</a:t>
            </a:r>
          </a:p>
        </p:txBody>
      </p:sp>
      <p:sp>
        <p:nvSpPr>
          <p:cNvPr id="12" name="TextBox 11"/>
          <p:cNvSpPr txBox="1"/>
          <p:nvPr/>
        </p:nvSpPr>
        <p:spPr>
          <a:xfrm>
            <a:off x="1143000" y="2441448"/>
            <a:ext cx="3474720" cy="457200"/>
          </a:xfrm>
          <a:prstGeom prst="rect">
            <a:avLst/>
          </a:prstGeom>
          <a:noFill/>
        </p:spPr>
        <p:txBody>
          <a:bodyPr wrap="square" lIns="0" rIns="0" tIns="0" bIns="0" anchor="t">
            <a:spAutoFit/>
          </a:bodyPr>
          <a:lstStyle/>
          <a:p>
            <a:pPr algn="l"/>
            <a:r>
              <a:rPr sz="1400" b="1">
                <a:solidFill>
                  <a:srgbClr val="2C3E50"/>
                </a:solidFill>
                <a:latin typeface="Calibri"/>
              </a:rPr>
              <a:t>Animated reveal</a:t>
            </a:r>
          </a:p>
        </p:txBody>
      </p:sp>
      <p:sp>
        <p:nvSpPr>
          <p:cNvPr id="13" name="TextBox 12"/>
          <p:cNvSpPr txBox="1"/>
          <p:nvPr/>
        </p:nvSpPr>
        <p:spPr>
          <a:xfrm>
            <a:off x="4572000" y="2468880"/>
            <a:ext cx="6858000" cy="457200"/>
          </a:xfrm>
          <a:prstGeom prst="rect">
            <a:avLst/>
          </a:prstGeom>
          <a:noFill/>
        </p:spPr>
        <p:txBody>
          <a:bodyPr wrap="square" lIns="0" rIns="0" tIns="0" bIns="0" anchor="t">
            <a:spAutoFit/>
          </a:bodyPr>
          <a:lstStyle/>
          <a:p>
            <a:pPr algn="l"/>
            <a:r>
              <a:rPr sz="1300" b="0">
                <a:solidFill>
                  <a:srgbClr val="1A232E"/>
                </a:solidFill>
                <a:latin typeface="Calibri"/>
              </a:rPr>
              <a:t>county-by-county fill transition on Step 2</a:t>
            </a:r>
          </a:p>
        </p:txBody>
      </p:sp>
      <p:sp>
        <p:nvSpPr>
          <p:cNvPr id="14" name="Rectangle 13"/>
          <p:cNvSpPr/>
          <p:nvPr/>
        </p:nvSpPr>
        <p:spPr>
          <a:xfrm>
            <a:off x="548640" y="301752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365760" cy="365760"/>
          </a:xfrm>
          <a:prstGeom prst="rect">
            <a:avLst/>
          </a:prstGeom>
          <a:noFill/>
        </p:spPr>
        <p:txBody>
          <a:bodyPr wrap="square" lIns="0" rIns="0" tIns="0" bIns="0" anchor="t">
            <a:spAutoFit/>
          </a:bodyPr>
          <a:lstStyle/>
          <a:p>
            <a:pPr algn="ctr"/>
            <a:r>
              <a:rPr sz="1400" b="1">
                <a:solidFill>
                  <a:srgbClr val="FFFFFF"/>
                </a:solidFill>
                <a:latin typeface="Calibri"/>
              </a:rPr>
              <a:t>3</a:t>
            </a:r>
          </a:p>
        </p:txBody>
      </p:sp>
      <p:sp>
        <p:nvSpPr>
          <p:cNvPr id="16" name="TextBox 15"/>
          <p:cNvSpPr txBox="1"/>
          <p:nvPr/>
        </p:nvSpPr>
        <p:spPr>
          <a:xfrm>
            <a:off x="1143000" y="3035808"/>
            <a:ext cx="3474720" cy="457200"/>
          </a:xfrm>
          <a:prstGeom prst="rect">
            <a:avLst/>
          </a:prstGeom>
          <a:noFill/>
        </p:spPr>
        <p:txBody>
          <a:bodyPr wrap="square" lIns="0" rIns="0" tIns="0" bIns="0" anchor="t">
            <a:spAutoFit/>
          </a:bodyPr>
          <a:lstStyle/>
          <a:p>
            <a:pPr algn="l"/>
            <a:r>
              <a:rPr sz="1400" b="1">
                <a:solidFill>
                  <a:srgbClr val="2C3E50"/>
                </a:solidFill>
                <a:latin typeface="Calibri"/>
              </a:rPr>
              <a:t>Button-triggered playback</a:t>
            </a:r>
          </a:p>
        </p:txBody>
      </p:sp>
      <p:sp>
        <p:nvSpPr>
          <p:cNvPr id="17" name="TextBox 16"/>
          <p:cNvSpPr txBox="1"/>
          <p:nvPr/>
        </p:nvSpPr>
        <p:spPr>
          <a:xfrm>
            <a:off x="4572000" y="3063240"/>
            <a:ext cx="6858000" cy="457200"/>
          </a:xfrm>
          <a:prstGeom prst="rect">
            <a:avLst/>
          </a:prstGeom>
          <a:noFill/>
        </p:spPr>
        <p:txBody>
          <a:bodyPr wrap="square" lIns="0" rIns="0" tIns="0" bIns="0" anchor="t">
            <a:spAutoFit/>
          </a:bodyPr>
          <a:lstStyle/>
          <a:p>
            <a:pPr algn="l"/>
            <a:r>
              <a:rPr sz="1300" b="0">
                <a:solidFill>
                  <a:srgbClr val="1A232E"/>
                </a:solidFill>
                <a:latin typeface="Calibri"/>
              </a:rPr>
              <a:t>Step 0 with Replay</a:t>
            </a:r>
          </a:p>
        </p:txBody>
      </p:sp>
      <p:sp>
        <p:nvSpPr>
          <p:cNvPr id="18" name="Rectangle 17"/>
          <p:cNvSpPr/>
          <p:nvPr/>
        </p:nvSpPr>
        <p:spPr>
          <a:xfrm>
            <a:off x="548640" y="361188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57600"/>
            <a:ext cx="365760" cy="365760"/>
          </a:xfrm>
          <a:prstGeom prst="rect">
            <a:avLst/>
          </a:prstGeom>
          <a:noFill/>
        </p:spPr>
        <p:txBody>
          <a:bodyPr wrap="square" lIns="0" rIns="0" tIns="0" bIns="0" anchor="t">
            <a:spAutoFit/>
          </a:bodyPr>
          <a:lstStyle/>
          <a:p>
            <a:pPr algn="ctr"/>
            <a:r>
              <a:rPr sz="1400" b="1">
                <a:solidFill>
                  <a:srgbClr val="FFFFFF"/>
                </a:solidFill>
                <a:latin typeface="Calibri"/>
              </a:rPr>
              <a:t>4</a:t>
            </a:r>
          </a:p>
        </p:txBody>
      </p:sp>
      <p:sp>
        <p:nvSpPr>
          <p:cNvPr id="20" name="TextBox 19"/>
          <p:cNvSpPr txBox="1"/>
          <p:nvPr/>
        </p:nvSpPr>
        <p:spPr>
          <a:xfrm>
            <a:off x="1143000" y="3630168"/>
            <a:ext cx="3474720" cy="457200"/>
          </a:xfrm>
          <a:prstGeom prst="rect">
            <a:avLst/>
          </a:prstGeom>
          <a:noFill/>
        </p:spPr>
        <p:txBody>
          <a:bodyPr wrap="square" lIns="0" rIns="0" tIns="0" bIns="0" anchor="t">
            <a:spAutoFit/>
          </a:bodyPr>
          <a:lstStyle/>
          <a:p>
            <a:pPr algn="l"/>
            <a:r>
              <a:rPr sz="1400" b="1">
                <a:solidFill>
                  <a:srgbClr val="2C3E50"/>
                </a:solidFill>
                <a:latin typeface="Calibri"/>
              </a:rPr>
              <a:t>Hover tooltips</a:t>
            </a:r>
          </a:p>
        </p:txBody>
      </p:sp>
      <p:sp>
        <p:nvSpPr>
          <p:cNvPr id="21" name="TextBox 20"/>
          <p:cNvSpPr txBox="1"/>
          <p:nvPr/>
        </p:nvSpPr>
        <p:spPr>
          <a:xfrm>
            <a:off x="4572000" y="3657600"/>
            <a:ext cx="6858000" cy="457200"/>
          </a:xfrm>
          <a:prstGeom prst="rect">
            <a:avLst/>
          </a:prstGeom>
          <a:noFill/>
        </p:spPr>
        <p:txBody>
          <a:bodyPr wrap="square" lIns="0" rIns="0" tIns="0" bIns="0" anchor="t">
            <a:spAutoFit/>
          </a:bodyPr>
          <a:lstStyle/>
          <a:p>
            <a:pPr algn="l"/>
            <a:r>
              <a:rPr sz="1300" b="0">
                <a:solidFill>
                  <a:srgbClr val="1A232E"/>
                </a:solidFill>
                <a:latin typeface="Calibri"/>
              </a:rPr>
              <a:t>every chart, with country / county / value detail</a:t>
            </a:r>
          </a:p>
        </p:txBody>
      </p:sp>
      <p:sp>
        <p:nvSpPr>
          <p:cNvPr id="22" name="Rectangle 21"/>
          <p:cNvSpPr/>
          <p:nvPr/>
        </p:nvSpPr>
        <p:spPr>
          <a:xfrm>
            <a:off x="548640" y="420624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51960"/>
            <a:ext cx="365760" cy="365760"/>
          </a:xfrm>
          <a:prstGeom prst="rect">
            <a:avLst/>
          </a:prstGeom>
          <a:noFill/>
        </p:spPr>
        <p:txBody>
          <a:bodyPr wrap="square" lIns="0" rIns="0" tIns="0" bIns="0" anchor="t">
            <a:spAutoFit/>
          </a:bodyPr>
          <a:lstStyle/>
          <a:p>
            <a:pPr algn="ctr"/>
            <a:r>
              <a:rPr sz="1400" b="1">
                <a:solidFill>
                  <a:srgbClr val="FFFFFF"/>
                </a:solidFill>
                <a:latin typeface="Calibri"/>
              </a:rPr>
              <a:t>5</a:t>
            </a:r>
          </a:p>
        </p:txBody>
      </p:sp>
      <p:sp>
        <p:nvSpPr>
          <p:cNvPr id="24" name="TextBox 23"/>
          <p:cNvSpPr txBox="1"/>
          <p:nvPr/>
        </p:nvSpPr>
        <p:spPr>
          <a:xfrm>
            <a:off x="1143000" y="4224528"/>
            <a:ext cx="3474720" cy="457200"/>
          </a:xfrm>
          <a:prstGeom prst="rect">
            <a:avLst/>
          </a:prstGeom>
          <a:noFill/>
        </p:spPr>
        <p:txBody>
          <a:bodyPr wrap="square" lIns="0" rIns="0" tIns="0" bIns="0" anchor="t">
            <a:spAutoFit/>
          </a:bodyPr>
          <a:lstStyle/>
          <a:p>
            <a:pPr algn="l"/>
            <a:r>
              <a:rPr sz="1400" b="1">
                <a:solidFill>
                  <a:srgbClr val="2C3E50"/>
                </a:solidFill>
                <a:latin typeface="Calibri"/>
              </a:rPr>
              <a:t>State drill-down</a:t>
            </a:r>
          </a:p>
        </p:txBody>
      </p:sp>
      <p:sp>
        <p:nvSpPr>
          <p:cNvPr id="25" name="TextBox 24"/>
          <p:cNvSpPr txBox="1"/>
          <p:nvPr/>
        </p:nvSpPr>
        <p:spPr>
          <a:xfrm>
            <a:off x="4572000" y="4251960"/>
            <a:ext cx="6858000" cy="457200"/>
          </a:xfrm>
          <a:prstGeom prst="rect">
            <a:avLst/>
          </a:prstGeom>
          <a:noFill/>
        </p:spPr>
        <p:txBody>
          <a:bodyPr wrap="square" lIns="0" rIns="0" tIns="0" bIns="0" anchor="t">
            <a:spAutoFit/>
          </a:bodyPr>
          <a:lstStyle/>
          <a:p>
            <a:pPr algn="l"/>
            <a:r>
              <a:rPr sz="1300" b="0">
                <a:solidFill>
                  <a:srgbClr val="1A232E"/>
                </a:solidFill>
                <a:latin typeface="Calibri"/>
              </a:rPr>
              <a:t>in the bubble (Dorling) view</a:t>
            </a:r>
          </a:p>
        </p:txBody>
      </p:sp>
      <p:sp>
        <p:nvSpPr>
          <p:cNvPr id="26" name="Rectangle 25"/>
          <p:cNvSpPr/>
          <p:nvPr/>
        </p:nvSpPr>
        <p:spPr>
          <a:xfrm>
            <a:off x="548640" y="480060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846320"/>
            <a:ext cx="365760" cy="365760"/>
          </a:xfrm>
          <a:prstGeom prst="rect">
            <a:avLst/>
          </a:prstGeom>
          <a:noFill/>
        </p:spPr>
        <p:txBody>
          <a:bodyPr wrap="square" lIns="0" rIns="0" tIns="0" bIns="0" anchor="t">
            <a:spAutoFit/>
          </a:bodyPr>
          <a:lstStyle/>
          <a:p>
            <a:pPr algn="ctr"/>
            <a:r>
              <a:rPr sz="1400" b="1">
                <a:solidFill>
                  <a:srgbClr val="FFFFFF"/>
                </a:solidFill>
                <a:latin typeface="Calibri"/>
              </a:rPr>
              <a:t>6</a:t>
            </a:r>
          </a:p>
        </p:txBody>
      </p:sp>
      <p:sp>
        <p:nvSpPr>
          <p:cNvPr id="28" name="TextBox 27"/>
          <p:cNvSpPr txBox="1"/>
          <p:nvPr/>
        </p:nvSpPr>
        <p:spPr>
          <a:xfrm>
            <a:off x="1143000" y="4818888"/>
            <a:ext cx="3474720" cy="457200"/>
          </a:xfrm>
          <a:prstGeom prst="rect">
            <a:avLst/>
          </a:prstGeom>
          <a:noFill/>
        </p:spPr>
        <p:txBody>
          <a:bodyPr wrap="square" lIns="0" rIns="0" tIns="0" bIns="0" anchor="t">
            <a:spAutoFit/>
          </a:bodyPr>
          <a:lstStyle/>
          <a:p>
            <a:pPr algn="l"/>
            <a:r>
              <a:rPr sz="1400" b="1">
                <a:solidFill>
                  <a:srgbClr val="2C3E50"/>
                </a:solidFill>
                <a:latin typeface="Calibri"/>
              </a:rPr>
              <a:t>3D orbit + zoom</a:t>
            </a:r>
          </a:p>
        </p:txBody>
      </p:sp>
      <p:sp>
        <p:nvSpPr>
          <p:cNvPr id="29" name="TextBox 28"/>
          <p:cNvSpPr txBox="1"/>
          <p:nvPr/>
        </p:nvSpPr>
        <p:spPr>
          <a:xfrm>
            <a:off x="4572000" y="4846320"/>
            <a:ext cx="6858000" cy="457200"/>
          </a:xfrm>
          <a:prstGeom prst="rect">
            <a:avLst/>
          </a:prstGeom>
          <a:noFill/>
        </p:spPr>
        <p:txBody>
          <a:bodyPr wrap="square" lIns="0" rIns="0" tIns="0" bIns="0" anchor="t">
            <a:spAutoFit/>
          </a:bodyPr>
          <a:lstStyle/>
          <a:p>
            <a:pPr algn="l"/>
            <a:r>
              <a:rPr sz="1300" b="0">
                <a:solidFill>
                  <a:srgbClr val="1A232E"/>
                </a:solidFill>
                <a:latin typeface="Calibri"/>
              </a:rPr>
              <a:t>bonus Step 7 (deck.gl OrbitView)</a:t>
            </a:r>
          </a:p>
        </p:txBody>
      </p:sp>
      <p:sp>
        <p:nvSpPr>
          <p:cNvPr id="30" name="Rectangle 29"/>
          <p:cNvSpPr/>
          <p:nvPr/>
        </p:nvSpPr>
        <p:spPr>
          <a:xfrm>
            <a:off x="548640" y="5394960"/>
            <a:ext cx="4114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440680"/>
            <a:ext cx="365760" cy="365760"/>
          </a:xfrm>
          <a:prstGeom prst="rect">
            <a:avLst/>
          </a:prstGeom>
          <a:noFill/>
        </p:spPr>
        <p:txBody>
          <a:bodyPr wrap="square" lIns="0" rIns="0" tIns="0" bIns="0" anchor="t">
            <a:spAutoFit/>
          </a:bodyPr>
          <a:lstStyle/>
          <a:p>
            <a:pPr algn="ctr"/>
            <a:r>
              <a:rPr sz="1400" b="1">
                <a:solidFill>
                  <a:srgbClr val="FFFFFF"/>
                </a:solidFill>
                <a:latin typeface="Calibri"/>
              </a:rPr>
              <a:t>7</a:t>
            </a:r>
          </a:p>
        </p:txBody>
      </p:sp>
      <p:sp>
        <p:nvSpPr>
          <p:cNvPr id="32" name="TextBox 31"/>
          <p:cNvSpPr txBox="1"/>
          <p:nvPr/>
        </p:nvSpPr>
        <p:spPr>
          <a:xfrm>
            <a:off x="1143000" y="5413248"/>
            <a:ext cx="3474720" cy="457200"/>
          </a:xfrm>
          <a:prstGeom prst="rect">
            <a:avLst/>
          </a:prstGeom>
          <a:noFill/>
        </p:spPr>
        <p:txBody>
          <a:bodyPr wrap="square" lIns="0" rIns="0" tIns="0" bIns="0" anchor="t">
            <a:spAutoFit/>
          </a:bodyPr>
          <a:lstStyle/>
          <a:p>
            <a:pPr algn="l"/>
            <a:r>
              <a:rPr sz="1400" b="1">
                <a:solidFill>
                  <a:srgbClr val="2C3E50"/>
                </a:solidFill>
                <a:latin typeface="Calibri"/>
              </a:rPr>
              <a:t>In-chart annotations</a:t>
            </a:r>
          </a:p>
        </p:txBody>
      </p:sp>
      <p:sp>
        <p:nvSpPr>
          <p:cNvPr id="33" name="TextBox 32"/>
          <p:cNvSpPr txBox="1"/>
          <p:nvPr/>
        </p:nvSpPr>
        <p:spPr>
          <a:xfrm>
            <a:off x="4572000" y="5440680"/>
            <a:ext cx="6858000" cy="457200"/>
          </a:xfrm>
          <a:prstGeom prst="rect">
            <a:avLst/>
          </a:prstGeom>
          <a:noFill/>
        </p:spPr>
        <p:txBody>
          <a:bodyPr wrap="square" lIns="0" rIns="0" tIns="0" bIns="0" anchor="t">
            <a:spAutoFit/>
          </a:bodyPr>
          <a:lstStyle/>
          <a:p>
            <a:pPr algn="l"/>
            <a:r>
              <a:rPr sz="1300" b="0">
                <a:solidFill>
                  <a:srgbClr val="1A232E"/>
                </a:solidFill>
                <a:latin typeface="Calibri"/>
              </a:rPr>
              <a:t>every step — prose references resolve to specific marks</a:t>
            </a:r>
          </a:p>
        </p:txBody>
      </p:sp>
      <p:sp>
        <p:nvSpPr>
          <p:cNvPr id="34" name="Rectangle 33"/>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36" name="TextBox 35"/>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329184"/>
          </a:xfrm>
          <a:prstGeom prst="rect">
            <a:avLst/>
          </a:prstGeom>
          <a:noFill/>
        </p:spPr>
        <p:txBody>
          <a:bodyPr wrap="square" lIns="0" rIns="0" tIns="0" bIns="0" anchor="t">
            <a:spAutoFit/>
          </a:bodyPr>
          <a:lstStyle/>
          <a:p>
            <a:pPr algn="l"/>
            <a:r>
              <a:rPr sz="1100" b="0">
                <a:solidFill>
                  <a:srgbClr val="FFFFFF"/>
                </a:solidFill>
                <a:latin typeface="Calibri"/>
              </a:rPr>
              <a:t>The Geography of Opportunity   ·   CSCI 5609 Spring 2026</a:t>
            </a:r>
          </a:p>
        </p:txBody>
      </p:sp>
      <p:sp>
        <p:nvSpPr>
          <p:cNvPr id="4" name="TextBox 3"/>
          <p:cNvSpPr txBox="1"/>
          <p:nvPr/>
        </p:nvSpPr>
        <p:spPr>
          <a:xfrm>
            <a:off x="548640" y="777240"/>
            <a:ext cx="7315200" cy="320040"/>
          </a:xfrm>
          <a:prstGeom prst="rect">
            <a:avLst/>
          </a:prstGeom>
          <a:noFill/>
        </p:spPr>
        <p:txBody>
          <a:bodyPr wrap="square" lIns="0" rIns="0" tIns="0" bIns="0" anchor="t">
            <a:spAutoFit/>
          </a:bodyPr>
          <a:lstStyle/>
          <a:p>
            <a:pPr algn="l"/>
            <a:r>
              <a:rPr sz="1200" b="1">
                <a:solidFill>
                  <a:srgbClr val="C0392B"/>
                </a:solidFill>
                <a:latin typeface="Calibri"/>
              </a:rPr>
              <a:t>WHAT WORKED · WHAT WE'D REDO</a:t>
            </a:r>
          </a:p>
        </p:txBody>
      </p:sp>
      <p:sp>
        <p:nvSpPr>
          <p:cNvPr id="5" name="TextBox 4"/>
          <p:cNvSpPr txBox="1"/>
          <p:nvPr/>
        </p:nvSpPr>
        <p:spPr>
          <a:xfrm>
            <a:off x="548640" y="1051560"/>
            <a:ext cx="9144000" cy="640080"/>
          </a:xfrm>
          <a:prstGeom prst="rect">
            <a:avLst/>
          </a:prstGeom>
          <a:noFill/>
        </p:spPr>
        <p:txBody>
          <a:bodyPr wrap="square" lIns="0" rIns="0" tIns="0" bIns="0" anchor="t">
            <a:spAutoFit/>
          </a:bodyPr>
          <a:lstStyle/>
          <a:p>
            <a:pPr algn="l"/>
            <a:r>
              <a:rPr sz="3200" b="1">
                <a:solidFill>
                  <a:srgbClr val="2C3E50"/>
                </a:solidFill>
                <a:latin typeface="Calibri"/>
              </a:rPr>
              <a:t>Reflection</a:t>
            </a:r>
          </a:p>
        </p:txBody>
      </p:sp>
      <p:sp>
        <p:nvSpPr>
          <p:cNvPr id="6" name="Rectangle 5"/>
          <p:cNvSpPr/>
          <p:nvPr/>
        </p:nvSpPr>
        <p:spPr>
          <a:xfrm>
            <a:off x="548640" y="1828800"/>
            <a:ext cx="3611880" cy="365760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36118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3246120" cy="320040"/>
          </a:xfrm>
          <a:prstGeom prst="rect">
            <a:avLst/>
          </a:prstGeom>
          <a:noFill/>
        </p:spPr>
        <p:txBody>
          <a:bodyPr wrap="square" lIns="0" rIns="0" tIns="0" bIns="0" anchor="t">
            <a:spAutoFit/>
          </a:bodyPr>
          <a:lstStyle/>
          <a:p>
            <a:pPr algn="l"/>
            <a:r>
              <a:rPr sz="1500" b="1">
                <a:solidFill>
                  <a:srgbClr val="FFFFFF"/>
                </a:solidFill>
                <a:latin typeface="Calibri"/>
              </a:rPr>
              <a:t>What worked</a:t>
            </a:r>
          </a:p>
        </p:txBody>
      </p:sp>
      <p:sp>
        <p:nvSpPr>
          <p:cNvPr id="9" name="TextBox 8"/>
          <p:cNvSpPr txBox="1"/>
          <p:nvPr/>
        </p:nvSpPr>
        <p:spPr>
          <a:xfrm>
            <a:off x="822960" y="2606040"/>
            <a:ext cx="3246120" cy="2743200"/>
          </a:xfrm>
          <a:prstGeom prst="rect">
            <a:avLst/>
          </a:prstGeom>
          <a:noFill/>
        </p:spPr>
        <p:txBody>
          <a:bodyPr wrap="square" lIns="0" rIns="0" tIns="0" bIns="0" anchor="t">
            <a:spAutoFit/>
          </a:bodyPr>
          <a:lstStyle/>
          <a:p>
            <a:pPr algn="l"/>
            <a:r>
              <a:rPr sz="1300" b="0">
                <a:solidFill>
                  <a:srgbClr val="1A232E"/>
                </a:solidFill>
                <a:latin typeface="Calibri"/>
              </a:rPr>
              <a:t>Scrollytelling kept the argument sequenced. Sticky charts gave each prose beat a visual anchor. Adding the deck.gl 3D bonus at the end gave a 'magnitude reveal' without competing with the 2D choropleth's accessibility for the headline argument.</a:t>
            </a:r>
          </a:p>
        </p:txBody>
      </p:sp>
      <p:sp>
        <p:nvSpPr>
          <p:cNvPr id="10" name="Rectangle 9"/>
          <p:cNvSpPr/>
          <p:nvPr/>
        </p:nvSpPr>
        <p:spPr>
          <a:xfrm>
            <a:off x="4343400" y="1828800"/>
            <a:ext cx="3611880" cy="365760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28800"/>
            <a:ext cx="361188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920240"/>
            <a:ext cx="3246120" cy="320040"/>
          </a:xfrm>
          <a:prstGeom prst="rect">
            <a:avLst/>
          </a:prstGeom>
          <a:noFill/>
        </p:spPr>
        <p:txBody>
          <a:bodyPr wrap="square" lIns="0" rIns="0" tIns="0" bIns="0" anchor="t">
            <a:spAutoFit/>
          </a:bodyPr>
          <a:lstStyle/>
          <a:p>
            <a:pPr algn="l"/>
            <a:r>
              <a:rPr sz="1500" b="1">
                <a:solidFill>
                  <a:srgbClr val="FFFFFF"/>
                </a:solidFill>
                <a:latin typeface="Calibri"/>
              </a:rPr>
              <a:t>What we'd redo</a:t>
            </a:r>
          </a:p>
        </p:txBody>
      </p:sp>
      <p:sp>
        <p:nvSpPr>
          <p:cNvPr id="13" name="TextBox 12"/>
          <p:cNvSpPr txBox="1"/>
          <p:nvPr/>
        </p:nvSpPr>
        <p:spPr>
          <a:xfrm>
            <a:off x="4617720" y="2606040"/>
            <a:ext cx="3246120" cy="2743200"/>
          </a:xfrm>
          <a:prstGeom prst="rect">
            <a:avLst/>
          </a:prstGeom>
          <a:noFill/>
        </p:spPr>
        <p:txBody>
          <a:bodyPr wrap="square" lIns="0" rIns="0" tIns="0" bIns="0" anchor="t">
            <a:spAutoFit/>
          </a:bodyPr>
          <a:lstStyle/>
          <a:p>
            <a:pPr algn="l"/>
            <a:r>
              <a:rPr sz="1300" b="0">
                <a:solidFill>
                  <a:srgbClr val="1A232E"/>
                </a:solidFill>
                <a:latin typeface="Calibri"/>
              </a:rPr>
              <a:t>Invest more in keyboard-only interaction for the 3D scene — orbit/zoom currently rely on mouse gestures. Add an elevation slider for non-mouse users.</a:t>
            </a:r>
          </a:p>
        </p:txBody>
      </p:sp>
      <p:sp>
        <p:nvSpPr>
          <p:cNvPr id="14" name="Rectangle 13"/>
          <p:cNvSpPr/>
          <p:nvPr/>
        </p:nvSpPr>
        <p:spPr>
          <a:xfrm>
            <a:off x="8138160" y="1828800"/>
            <a:ext cx="3611880" cy="3657600"/>
          </a:xfrm>
          <a:prstGeom prst="rect">
            <a:avLst/>
          </a:prstGeom>
          <a:solidFill>
            <a:srgbClr val="FFFFFF"/>
          </a:solidFill>
          <a:ln w="9525">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828800"/>
            <a:ext cx="361188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920240"/>
            <a:ext cx="3246120" cy="320040"/>
          </a:xfrm>
          <a:prstGeom prst="rect">
            <a:avLst/>
          </a:prstGeom>
          <a:noFill/>
        </p:spPr>
        <p:txBody>
          <a:bodyPr wrap="square" lIns="0" rIns="0" tIns="0" bIns="0" anchor="t">
            <a:spAutoFit/>
          </a:bodyPr>
          <a:lstStyle/>
          <a:p>
            <a:pPr algn="l"/>
            <a:r>
              <a:rPr sz="1500" b="1">
                <a:solidFill>
                  <a:srgbClr val="FFFFFF"/>
                </a:solidFill>
                <a:latin typeface="Calibri"/>
              </a:rPr>
              <a:t>Hardest part</a:t>
            </a:r>
          </a:p>
        </p:txBody>
      </p:sp>
      <p:sp>
        <p:nvSpPr>
          <p:cNvPr id="17" name="TextBox 16"/>
          <p:cNvSpPr txBox="1"/>
          <p:nvPr/>
        </p:nvSpPr>
        <p:spPr>
          <a:xfrm>
            <a:off x="8412480" y="2606040"/>
            <a:ext cx="3246120" cy="2743200"/>
          </a:xfrm>
          <a:prstGeom prst="rect">
            <a:avLst/>
          </a:prstGeom>
          <a:noFill/>
        </p:spPr>
        <p:txBody>
          <a:bodyPr wrap="square" lIns="0" rIns="0" tIns="0" bIns="0" anchor="t">
            <a:spAutoFit/>
          </a:bodyPr>
          <a:lstStyle/>
          <a:p>
            <a:pPr algn="l"/>
            <a:r>
              <a:rPr sz="1300" b="0">
                <a:solidFill>
                  <a:srgbClr val="1A232E"/>
                </a:solidFill>
                <a:latin typeface="Calibri"/>
              </a:rPr>
              <a:t>Keeping the same 20-country roster visually consistent across Steps 4, 5, 6. The morph from scatter to ranking is what makes that roster legible — the eye carries identity from one chart to the next.</a:t>
            </a:r>
          </a:p>
        </p:txBody>
      </p:sp>
      <p:sp>
        <p:nvSpPr>
          <p:cNvPr id="18" name="Rectangle 17"/>
          <p:cNvSpPr/>
          <p:nvPr/>
        </p:nvSpPr>
        <p:spPr>
          <a:xfrm>
            <a:off x="0" y="6492240"/>
            <a:ext cx="12191695" cy="36576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65392"/>
            <a:ext cx="7315200" cy="228600"/>
          </a:xfrm>
          <a:prstGeom prst="rect">
            <a:avLst/>
          </a:prstGeom>
          <a:noFill/>
        </p:spPr>
        <p:txBody>
          <a:bodyPr wrap="square" lIns="0" rIns="0" tIns="0" bIns="0" anchor="t">
            <a:spAutoFit/>
          </a:bodyPr>
          <a:lstStyle/>
          <a:p>
            <a:pPr algn="l"/>
            <a:r>
              <a:rPr sz="1000" b="0">
                <a:solidFill>
                  <a:srgbClr val="7B8A8B"/>
                </a:solidFill>
                <a:latin typeface="Calibri"/>
              </a:rPr>
              <a:t>Brandon Borzello · Harris Li · Qi Wu · Yiqi Huang</a:t>
            </a:r>
          </a:p>
        </p:txBody>
      </p:sp>
      <p:sp>
        <p:nvSpPr>
          <p:cNvPr id="20" name="TextBox 19"/>
          <p:cNvSpPr txBox="1"/>
          <p:nvPr/>
        </p:nvSpPr>
        <p:spPr>
          <a:xfrm>
            <a:off x="10515600" y="6565392"/>
            <a:ext cx="1188720" cy="228600"/>
          </a:xfrm>
          <a:prstGeom prst="rect">
            <a:avLst/>
          </a:prstGeom>
          <a:noFill/>
        </p:spPr>
        <p:txBody>
          <a:bodyPr wrap="square" lIns="0" rIns="0" tIns="0" bIns="0" anchor="t">
            <a:spAutoFit/>
          </a:bodyPr>
          <a:lstStyle/>
          <a:p>
            <a:pPr algn="r"/>
            <a:r>
              <a:rPr sz="1000" b="0">
                <a:solidFill>
                  <a:srgbClr val="7B8A8B"/>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548640" y="548640"/>
            <a:ext cx="10972800" cy="457200"/>
          </a:xfrm>
          <a:prstGeom prst="rect">
            <a:avLst/>
          </a:prstGeom>
          <a:noFill/>
        </p:spPr>
        <p:txBody>
          <a:bodyPr wrap="square" lIns="0" rIns="0" tIns="0" bIns="0" anchor="t">
            <a:spAutoFit/>
          </a:bodyPr>
          <a:lstStyle/>
          <a:p>
            <a:pPr algn="l"/>
            <a:r>
              <a:rPr sz="2200" b="1">
                <a:solidFill>
                  <a:srgbClr val="FFC0B6"/>
                </a:solidFill>
                <a:latin typeface="Calibri"/>
              </a:rPr>
              <a:t>Q &amp; A</a:t>
            </a:r>
          </a:p>
        </p:txBody>
      </p:sp>
      <p:sp>
        <p:nvSpPr>
          <p:cNvPr id="3" name="TextBox 2"/>
          <p:cNvSpPr txBox="1"/>
          <p:nvPr/>
        </p:nvSpPr>
        <p:spPr>
          <a:xfrm>
            <a:off x="548640" y="1463040"/>
            <a:ext cx="10972800" cy="640080"/>
          </a:xfrm>
          <a:prstGeom prst="rect">
            <a:avLst/>
          </a:prstGeom>
          <a:noFill/>
        </p:spPr>
        <p:txBody>
          <a:bodyPr wrap="square" lIns="0" rIns="0" tIns="0" bIns="0" anchor="t">
            <a:spAutoFit/>
          </a:bodyPr>
          <a:lstStyle/>
          <a:p>
            <a:pPr algn="l"/>
            <a:r>
              <a:rPr sz="4400" b="1">
                <a:solidFill>
                  <a:srgbClr val="FFFFFF"/>
                </a:solidFill>
                <a:latin typeface="Calibri"/>
              </a:rPr>
              <a:t>Thank you.</a:t>
            </a:r>
          </a:p>
        </p:txBody>
      </p:sp>
      <p:sp>
        <p:nvSpPr>
          <p:cNvPr id="4" name="TextBox 3"/>
          <p:cNvSpPr txBox="1"/>
          <p:nvPr/>
        </p:nvSpPr>
        <p:spPr>
          <a:xfrm>
            <a:off x="548640" y="2286000"/>
            <a:ext cx="10972800" cy="457200"/>
          </a:xfrm>
          <a:prstGeom prst="rect">
            <a:avLst/>
          </a:prstGeom>
          <a:noFill/>
        </p:spPr>
        <p:txBody>
          <a:bodyPr wrap="square" lIns="0" rIns="0" tIns="0" bIns="0" anchor="t">
            <a:spAutoFit/>
          </a:bodyPr>
          <a:lstStyle/>
          <a:p>
            <a:pPr algn="l"/>
            <a:r>
              <a:rPr sz="1800" b="0">
                <a:solidFill>
                  <a:srgbClr val="E0E6EE"/>
                </a:solidFill>
                <a:latin typeface="Calibri"/>
              </a:rPr>
              <a:t>We're happy to take questions.</a:t>
            </a:r>
          </a:p>
        </p:txBody>
      </p:sp>
      <p:pic>
        <p:nvPicPr>
          <p:cNvPr id="5" name="Picture 4" descr="live.png"/>
          <p:cNvPicPr>
            <a:picLocks noChangeAspect="1"/>
          </p:cNvPicPr>
          <p:nvPr/>
        </p:nvPicPr>
        <p:blipFill>
          <a:blip r:embed="rId2"/>
          <a:stretch>
            <a:fillRect/>
          </a:stretch>
        </p:blipFill>
        <p:spPr>
          <a:xfrm>
            <a:off x="1371600" y="3657600"/>
            <a:ext cx="1828800" cy="1828800"/>
          </a:xfrm>
          <a:prstGeom prst="rect">
            <a:avLst/>
          </a:prstGeom>
        </p:spPr>
      </p:pic>
      <p:sp>
        <p:nvSpPr>
          <p:cNvPr id="6" name="TextBox 5"/>
          <p:cNvSpPr txBox="1"/>
          <p:nvPr/>
        </p:nvSpPr>
        <p:spPr>
          <a:xfrm>
            <a:off x="1371600" y="5577840"/>
            <a:ext cx="1828800" cy="274320"/>
          </a:xfrm>
          <a:prstGeom prst="rect">
            <a:avLst/>
          </a:prstGeom>
          <a:noFill/>
        </p:spPr>
        <p:txBody>
          <a:bodyPr wrap="square" lIns="0" rIns="0" tIns="0" bIns="0" anchor="t">
            <a:spAutoFit/>
          </a:bodyPr>
          <a:lstStyle/>
          <a:p>
            <a:pPr algn="ctr"/>
            <a:r>
              <a:rPr sz="1100" b="1">
                <a:solidFill>
                  <a:srgbClr val="FFC0B6"/>
                </a:solidFill>
                <a:latin typeface="Calibri"/>
              </a:rPr>
              <a:t>LIVE DEMO</a:t>
            </a:r>
          </a:p>
        </p:txBody>
      </p:sp>
      <p:sp>
        <p:nvSpPr>
          <p:cNvPr id="7" name="TextBox 6"/>
          <p:cNvSpPr txBox="1"/>
          <p:nvPr/>
        </p:nvSpPr>
        <p:spPr>
          <a:xfrm>
            <a:off x="914400" y="5852160"/>
            <a:ext cx="2743200" cy="274320"/>
          </a:xfrm>
          <a:prstGeom prst="rect">
            <a:avLst/>
          </a:prstGeom>
          <a:noFill/>
        </p:spPr>
        <p:txBody>
          <a:bodyPr wrap="square" lIns="0" rIns="0" tIns="0" bIns="0" anchor="t">
            <a:spAutoFit/>
          </a:bodyPr>
          <a:lstStyle/>
          <a:p>
            <a:pPr algn="ctr"/>
            <a:r>
              <a:rPr sz="1000" b="0">
                <a:solidFill>
                  <a:srgbClr val="E0E6EE"/>
                </a:solidFill>
                <a:latin typeface="Consolas"/>
              </a:rPr>
              <a:t>57777-bit.github.io/5609finalProject</a:t>
            </a:r>
          </a:p>
        </p:txBody>
      </p:sp>
      <p:pic>
        <p:nvPicPr>
          <p:cNvPr id="8" name="Picture 7" descr="repo.png"/>
          <p:cNvPicPr>
            <a:picLocks noChangeAspect="1"/>
          </p:cNvPicPr>
          <p:nvPr/>
        </p:nvPicPr>
        <p:blipFill>
          <a:blip r:embed="rId3"/>
          <a:stretch>
            <a:fillRect/>
          </a:stretch>
        </p:blipFill>
        <p:spPr>
          <a:xfrm>
            <a:off x="7772400" y="3657600"/>
            <a:ext cx="1828800" cy="1828800"/>
          </a:xfrm>
          <a:prstGeom prst="rect">
            <a:avLst/>
          </a:prstGeom>
        </p:spPr>
      </p:pic>
      <p:sp>
        <p:nvSpPr>
          <p:cNvPr id="9" name="TextBox 8"/>
          <p:cNvSpPr txBox="1"/>
          <p:nvPr/>
        </p:nvSpPr>
        <p:spPr>
          <a:xfrm>
            <a:off x="7772400" y="5577840"/>
            <a:ext cx="1828800" cy="274320"/>
          </a:xfrm>
          <a:prstGeom prst="rect">
            <a:avLst/>
          </a:prstGeom>
          <a:noFill/>
        </p:spPr>
        <p:txBody>
          <a:bodyPr wrap="square" lIns="0" rIns="0" tIns="0" bIns="0" anchor="t">
            <a:spAutoFit/>
          </a:bodyPr>
          <a:lstStyle/>
          <a:p>
            <a:pPr algn="ctr"/>
            <a:r>
              <a:rPr sz="1100" b="1">
                <a:solidFill>
                  <a:srgbClr val="FFC0B6"/>
                </a:solidFill>
                <a:latin typeface="Calibri"/>
              </a:rPr>
              <a:t>REPO</a:t>
            </a:r>
          </a:p>
        </p:txBody>
      </p:sp>
      <p:sp>
        <p:nvSpPr>
          <p:cNvPr id="10" name="TextBox 9"/>
          <p:cNvSpPr txBox="1"/>
          <p:nvPr/>
        </p:nvSpPr>
        <p:spPr>
          <a:xfrm>
            <a:off x="7315200" y="5852160"/>
            <a:ext cx="2743200" cy="274320"/>
          </a:xfrm>
          <a:prstGeom prst="rect">
            <a:avLst/>
          </a:prstGeom>
          <a:noFill/>
        </p:spPr>
        <p:txBody>
          <a:bodyPr wrap="square" lIns="0" rIns="0" tIns="0" bIns="0" anchor="t">
            <a:spAutoFit/>
          </a:bodyPr>
          <a:lstStyle/>
          <a:p>
            <a:pPr algn="ctr"/>
            <a:r>
              <a:rPr sz="1000" b="0">
                <a:solidFill>
                  <a:srgbClr val="E0E6EE"/>
                </a:solidFill>
                <a:latin typeface="Consolas"/>
              </a:rPr>
              <a:t>github.com/57777-bit/5609finalProject</a:t>
            </a:r>
          </a:p>
        </p:txBody>
      </p:sp>
      <p:sp>
        <p:nvSpPr>
          <p:cNvPr id="11" name="TextBox 10"/>
          <p:cNvSpPr txBox="1"/>
          <p:nvPr/>
        </p:nvSpPr>
        <p:spPr>
          <a:xfrm>
            <a:off x="548640" y="6035040"/>
            <a:ext cx="10972800" cy="274320"/>
          </a:xfrm>
          <a:prstGeom prst="rect">
            <a:avLst/>
          </a:prstGeom>
          <a:noFill/>
        </p:spPr>
        <p:txBody>
          <a:bodyPr wrap="square" lIns="0" rIns="0" tIns="0" bIns="0" anchor="t">
            <a:spAutoFit/>
          </a:bodyPr>
          <a:lstStyle/>
          <a:p>
            <a:pPr algn="l"/>
            <a:r>
              <a:rPr sz="1000" b="1">
                <a:solidFill>
                  <a:srgbClr val="FFC0B6"/>
                </a:solidFill>
                <a:latin typeface="Calibri"/>
              </a:rPr>
              <a:t>ACKNOWLEDGEMENTS</a:t>
            </a:r>
          </a:p>
        </p:txBody>
      </p:sp>
      <p:sp>
        <p:nvSpPr>
          <p:cNvPr id="12" name="TextBox 11"/>
          <p:cNvSpPr txBox="1"/>
          <p:nvPr/>
        </p:nvSpPr>
        <p:spPr>
          <a:xfrm>
            <a:off x="548640" y="6309360"/>
            <a:ext cx="10972800" cy="274320"/>
          </a:xfrm>
          <a:prstGeom prst="rect">
            <a:avLst/>
          </a:prstGeom>
          <a:noFill/>
        </p:spPr>
        <p:txBody>
          <a:bodyPr wrap="square" lIns="0" rIns="0" tIns="0" bIns="0" anchor="t">
            <a:spAutoFit/>
          </a:bodyPr>
          <a:lstStyle/>
          <a:p>
            <a:pPr algn="l"/>
            <a:r>
              <a:rPr sz="1000" b="0">
                <a:solidFill>
                  <a:srgbClr val="E0E6EE"/>
                </a:solidFill>
                <a:latin typeface="Calibri"/>
              </a:rPr>
              <a:t>Chetty et al. · Opportunity Atlas   ·   World Bank GDIM 2023   ·   Frederick Solt SWIID v9.6   ·   Mike Bostock TopoJSON Atlas   ·   D3   ·   Svelte/SvelteKit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